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22" r:id="rId2"/>
    <p:sldId id="259" r:id="rId3"/>
    <p:sldId id="297" r:id="rId4"/>
    <p:sldId id="330" r:id="rId5"/>
    <p:sldId id="331" r:id="rId6"/>
    <p:sldId id="321" r:id="rId7"/>
    <p:sldId id="296" r:id="rId8"/>
    <p:sldId id="336" r:id="rId9"/>
    <p:sldId id="337" r:id="rId10"/>
    <p:sldId id="340" r:id="rId11"/>
    <p:sldId id="341" r:id="rId12"/>
    <p:sldId id="339" r:id="rId13"/>
    <p:sldId id="343" r:id="rId14"/>
    <p:sldId id="332" r:id="rId15"/>
    <p:sldId id="329" r:id="rId16"/>
  </p:sldIdLst>
  <p:sldSz cx="12190413" cy="6859588"/>
  <p:notesSz cx="6858000" cy="9144000"/>
  <p:embeddedFontLst>
    <p:embeddedFont>
      <p:font typeface="Calibri" pitchFamily="34" charset="0"/>
      <p:regular r:id="rId19"/>
      <p:bold r:id="rId20"/>
      <p:italic r:id="rId21"/>
      <p:boldItalic r:id="rId22"/>
    </p:embeddedFont>
    <p:embeddedFont>
      <p:font typeface="Malgun Gothic" pitchFamily="34" charset="-127"/>
      <p:regular r:id="rId23"/>
      <p:bold r:id="rId24"/>
    </p:embeddedFont>
    <p:embeddedFont>
      <p:font typeface="Calibri Light" pitchFamily="34" charset="0"/>
      <p:regular r:id="rId25"/>
      <p:italic r:id="rId26"/>
    </p:embeddedFont>
    <p:embeddedFont>
      <p:font typeface="MS UI Gothic" pitchFamily="34" charset="-128"/>
      <p:regular r:id="rId27"/>
    </p:embeddedFont>
  </p:embeddedFontLst>
  <p:defaultTextStyle>
    <a:defPPr>
      <a:defRPr lang="ko-KR"/>
    </a:defPPr>
    <a:lvl1pPr marL="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8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2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6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0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4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88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20" algn="l" defTabSz="99568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BFBFB"/>
    <a:srgbClr val="2727AD"/>
    <a:srgbClr val="333F82"/>
    <a:srgbClr val="252A85"/>
    <a:srgbClr val="1A76D4"/>
    <a:srgbClr val="7EB1DE"/>
    <a:srgbClr val="0C0F14"/>
    <a:srgbClr val="C7CF21"/>
    <a:srgbClr val="81B02C"/>
    <a:srgbClr val="455E1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0043" autoAdjust="0"/>
    <p:restoredTop sz="95369" autoAdjust="0"/>
  </p:normalViewPr>
  <p:slideViewPr>
    <p:cSldViewPr>
      <p:cViewPr>
        <p:scale>
          <a:sx n="75" d="100"/>
          <a:sy n="75" d="100"/>
        </p:scale>
        <p:origin x="-1205" y="-250"/>
      </p:cViewPr>
      <p:guideLst>
        <p:guide orient="horz" pos="2160"/>
        <p:guide pos="2844"/>
        <p:guide pos="382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3546" y="102"/>
      </p:cViewPr>
      <p:guideLst>
        <p:guide orient="horz" pos="2880"/>
        <p:guide pos="215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771359-8BFD-465E-9E44-04347C861335}" type="doc">
      <dgm:prSet loTypeId="urn:microsoft.com/office/officeart/2005/8/layout/lProcess1#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EEB650F9-EA31-44E5-8031-A3228DAB3560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 dirty="0" smtClean="0"/>
            <a:t>Preparation </a:t>
          </a:r>
          <a:r>
            <a:rPr lang="en-IN" altLang="en-US" dirty="0"/>
            <a:t>process </a:t>
          </a:r>
        </a:p>
      </dgm:t>
    </dgm:pt>
    <dgm:pt modelId="{99DAD19C-EC6F-44EC-9046-BAE15C4FA03C}" type="parTrans" cxnId="{8A3760D8-5254-4E85-B1DB-9E7B9DEAC99D}">
      <dgm:prSet/>
      <dgm:spPr/>
      <dgm:t>
        <a:bodyPr/>
        <a:lstStyle/>
        <a:p>
          <a:endParaRPr lang="en-US"/>
        </a:p>
      </dgm:t>
    </dgm:pt>
    <dgm:pt modelId="{4037C8F8-F7E5-49CB-AB0E-99573CA98D06}" type="sibTrans" cxnId="{8A3760D8-5254-4E85-B1DB-9E7B9DEAC99D}">
      <dgm:prSet/>
      <dgm:spPr/>
      <dgm:t>
        <a:bodyPr/>
        <a:lstStyle/>
        <a:p>
          <a:endParaRPr lang="en-US"/>
        </a:p>
      </dgm:t>
    </dgm:pt>
    <dgm:pt modelId="{9E9F191A-F968-4CCB-8A75-F7C7328F35FA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>
              <a:sym typeface="+mn-ea"/>
            </a:rPr>
            <a:t>Data gathering</a:t>
          </a:r>
          <a:endParaRPr lang="en-IN" altLang="en-US"/>
        </a:p>
      </dgm:t>
    </dgm:pt>
    <dgm:pt modelId="{E2A96FDE-AD91-4C0F-9BE2-E2BA855FBDEC}" type="parTrans" cxnId="{B94161E6-9A17-44FA-B8BA-FA69B528EBF7}">
      <dgm:prSet/>
      <dgm:spPr/>
      <dgm:t>
        <a:bodyPr/>
        <a:lstStyle/>
        <a:p>
          <a:endParaRPr lang="en-US"/>
        </a:p>
      </dgm:t>
    </dgm:pt>
    <dgm:pt modelId="{D955AC04-5176-4A12-B6D5-9BA8B6F3648B}" type="sibTrans" cxnId="{B94161E6-9A17-44FA-B8BA-FA69B528EBF7}">
      <dgm:prSet/>
      <dgm:spPr/>
      <dgm:t>
        <a:bodyPr/>
        <a:lstStyle/>
        <a:p>
          <a:endParaRPr lang="en-US"/>
        </a:p>
      </dgm:t>
    </dgm:pt>
    <dgm:pt modelId="{74E7049D-3B61-45D3-ACDC-EF176417E62A}">
      <dgm:prSet phldrT="[Text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>
              <a:sym typeface="+mn-ea"/>
            </a:rPr>
            <a:t>Classification / Clustering</a:t>
          </a:r>
          <a:endParaRPr lang="en-IN" altLang="en-US"/>
        </a:p>
      </dgm:t>
    </dgm:pt>
    <dgm:pt modelId="{3E93F073-BD60-4A34-B28C-C954313937A0}" type="parTrans" cxnId="{397355BD-38C9-4C4F-B8B3-2FE53433C534}">
      <dgm:prSet/>
      <dgm:spPr/>
      <dgm:t>
        <a:bodyPr/>
        <a:lstStyle/>
        <a:p>
          <a:endParaRPr lang="en-US"/>
        </a:p>
      </dgm:t>
    </dgm:pt>
    <dgm:pt modelId="{8953DE3B-6E67-4289-847D-74CB64FCF20E}" type="sibTrans" cxnId="{397355BD-38C9-4C4F-B8B3-2FE53433C534}">
      <dgm:prSet/>
      <dgm:spPr/>
      <dgm:t>
        <a:bodyPr/>
        <a:lstStyle/>
        <a:p>
          <a:endParaRPr lang="en-US"/>
        </a:p>
      </dgm:t>
    </dgm:pt>
    <dgm:pt modelId="{5F6A6485-E87D-4CEA-B83C-509E69A6EA7A}">
      <dgm:prSet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mtClean="0">
              <a:sym typeface="+mn-ea"/>
            </a:rPr>
            <a:t>P</a:t>
          </a:r>
          <a:r>
            <a:rPr lang="en-IN" altLang="en-US" dirty="0" err="1" smtClean="0">
              <a:sym typeface="+mn-ea"/>
            </a:rPr>
            <a:t>rediction</a:t>
          </a:r>
          <a:r>
            <a:rPr lang="en-IN" altLang="en-US" dirty="0" smtClean="0">
              <a:sym typeface="+mn-ea"/>
            </a:rPr>
            <a:t> </a:t>
          </a:r>
          <a:r>
            <a:rPr lang="en-IN" altLang="en-US" dirty="0">
              <a:sym typeface="+mn-ea"/>
            </a:rPr>
            <a:t>/ </a:t>
          </a:r>
          <a:r>
            <a:rPr lang="en-IN" altLang="en-US" dirty="0" smtClean="0">
              <a:sym typeface="+mn-ea"/>
            </a:rPr>
            <a:t>Forecast</a:t>
          </a:r>
          <a:endParaRPr lang="en-IN" altLang="en-US" dirty="0"/>
        </a:p>
      </dgm:t>
    </dgm:pt>
    <dgm:pt modelId="{3BCCF185-69C1-44F4-B32B-A7B6198C23E5}" type="parTrans" cxnId="{E1ED8E0C-6608-4D01-B830-6C556339E3FA}">
      <dgm:prSet/>
      <dgm:spPr/>
    </dgm:pt>
    <dgm:pt modelId="{841878CE-99EC-40FB-BA50-E442781C32CD}" type="sibTrans" cxnId="{E1ED8E0C-6608-4D01-B830-6C556339E3FA}">
      <dgm:prSet/>
      <dgm:spPr/>
    </dgm:pt>
    <dgm:pt modelId="{DA079357-CE50-4940-9D39-5206B4B6747E}" type="pres">
      <dgm:prSet presAssocID="{D9771359-8BFD-465E-9E44-04347C86133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0D1FAF9-48F4-4ADF-A92F-3152A1EC6098}" type="pres">
      <dgm:prSet presAssocID="{EEB650F9-EA31-44E5-8031-A3228DAB3560}" presName="vertFlow" presStyleCnt="0"/>
      <dgm:spPr/>
    </dgm:pt>
    <dgm:pt modelId="{717966B2-56E0-4340-8D0B-AC34E8D01B90}" type="pres">
      <dgm:prSet presAssocID="{EEB650F9-EA31-44E5-8031-A3228DAB3560}" presName="header" presStyleLbl="node1" presStyleIdx="0" presStyleCnt="1"/>
      <dgm:spPr/>
      <dgm:t>
        <a:bodyPr/>
        <a:lstStyle/>
        <a:p>
          <a:endParaRPr lang="en-US"/>
        </a:p>
      </dgm:t>
    </dgm:pt>
    <dgm:pt modelId="{546A5835-6576-41D6-BAE9-6D31C06014FF}" type="pres">
      <dgm:prSet presAssocID="{E2A96FDE-AD91-4C0F-9BE2-E2BA855FBDEC}" presName="parTrans" presStyleLbl="sibTrans2D1" presStyleIdx="0" presStyleCnt="3"/>
      <dgm:spPr/>
      <dgm:t>
        <a:bodyPr/>
        <a:lstStyle/>
        <a:p>
          <a:endParaRPr lang="en-US"/>
        </a:p>
      </dgm:t>
    </dgm:pt>
    <dgm:pt modelId="{A515B6A9-0F0E-4A03-AF74-4E28BC797F55}" type="pres">
      <dgm:prSet presAssocID="{9E9F191A-F968-4CCB-8A75-F7C7328F35FA}" presName="child" presStyleLbl="alignAccFollow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A6E640-AD0C-4D86-AD56-CD0296B4CD73}" type="pres">
      <dgm:prSet presAssocID="{D955AC04-5176-4A12-B6D5-9BA8B6F3648B}" presName="sibTrans" presStyleLbl="sibTrans2D1" presStyleIdx="1" presStyleCnt="3"/>
      <dgm:spPr/>
      <dgm:t>
        <a:bodyPr/>
        <a:lstStyle/>
        <a:p>
          <a:endParaRPr lang="en-US"/>
        </a:p>
      </dgm:t>
    </dgm:pt>
    <dgm:pt modelId="{090AF1B6-C33E-433B-AD79-DE435B62D85C}" type="pres">
      <dgm:prSet presAssocID="{74E7049D-3B61-45D3-ACDC-EF176417E62A}" presName="child" presStyleLbl="alignAccFollow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BB2A73-D5B5-45D0-9971-D12CDE9AB11C}" type="pres">
      <dgm:prSet presAssocID="{8953DE3B-6E67-4289-847D-74CB64FCF20E}" presName="sibTrans" presStyleLbl="sibTrans2D1" presStyleIdx="2" presStyleCnt="3"/>
      <dgm:spPr/>
      <dgm:t>
        <a:bodyPr/>
        <a:lstStyle/>
        <a:p>
          <a:endParaRPr lang="en-US"/>
        </a:p>
      </dgm:t>
    </dgm:pt>
    <dgm:pt modelId="{4E430678-3F58-43BE-9E25-19B8B51FE06A}" type="pres">
      <dgm:prSet presAssocID="{5F6A6485-E87D-4CEA-B83C-509E69A6EA7A}" presName="child" presStyleLbl="alignAccFollow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9E752F3-2350-4BA1-B95B-81BC5E170044}" type="presOf" srcId="{E2A96FDE-AD91-4C0F-9BE2-E2BA855FBDEC}" destId="{546A5835-6576-41D6-BAE9-6D31C06014FF}" srcOrd="0" destOrd="0" presId="urn:microsoft.com/office/officeart/2005/8/layout/lProcess1#1"/>
    <dgm:cxn modelId="{397355BD-38C9-4C4F-B8B3-2FE53433C534}" srcId="{EEB650F9-EA31-44E5-8031-A3228DAB3560}" destId="{74E7049D-3B61-45D3-ACDC-EF176417E62A}" srcOrd="1" destOrd="0" parTransId="{3E93F073-BD60-4A34-B28C-C954313937A0}" sibTransId="{8953DE3B-6E67-4289-847D-74CB64FCF20E}"/>
    <dgm:cxn modelId="{B94161E6-9A17-44FA-B8BA-FA69B528EBF7}" srcId="{EEB650F9-EA31-44E5-8031-A3228DAB3560}" destId="{9E9F191A-F968-4CCB-8A75-F7C7328F35FA}" srcOrd="0" destOrd="0" parTransId="{E2A96FDE-AD91-4C0F-9BE2-E2BA855FBDEC}" sibTransId="{D955AC04-5176-4A12-B6D5-9BA8B6F3648B}"/>
    <dgm:cxn modelId="{8A3760D8-5254-4E85-B1DB-9E7B9DEAC99D}" srcId="{D9771359-8BFD-465E-9E44-04347C861335}" destId="{EEB650F9-EA31-44E5-8031-A3228DAB3560}" srcOrd="0" destOrd="0" parTransId="{99DAD19C-EC6F-44EC-9046-BAE15C4FA03C}" sibTransId="{4037C8F8-F7E5-49CB-AB0E-99573CA98D06}"/>
    <dgm:cxn modelId="{9070BF56-772F-49A9-B25F-E4AD28401277}" type="presOf" srcId="{9E9F191A-F968-4CCB-8A75-F7C7328F35FA}" destId="{A515B6A9-0F0E-4A03-AF74-4E28BC797F55}" srcOrd="0" destOrd="0" presId="urn:microsoft.com/office/officeart/2005/8/layout/lProcess1#1"/>
    <dgm:cxn modelId="{BD6B674E-2605-4274-870F-0D92904757EF}" type="presOf" srcId="{D955AC04-5176-4A12-B6D5-9BA8B6F3648B}" destId="{5CA6E640-AD0C-4D86-AD56-CD0296B4CD73}" srcOrd="0" destOrd="0" presId="urn:microsoft.com/office/officeart/2005/8/layout/lProcess1#1"/>
    <dgm:cxn modelId="{E861B160-1FC2-4990-A978-784AEC6A8DFD}" type="presOf" srcId="{D9771359-8BFD-465E-9E44-04347C861335}" destId="{DA079357-CE50-4940-9D39-5206B4B6747E}" srcOrd="0" destOrd="0" presId="urn:microsoft.com/office/officeart/2005/8/layout/lProcess1#1"/>
    <dgm:cxn modelId="{A586BA79-820B-43CE-B86C-F3F4870047DF}" type="presOf" srcId="{EEB650F9-EA31-44E5-8031-A3228DAB3560}" destId="{717966B2-56E0-4340-8D0B-AC34E8D01B90}" srcOrd="0" destOrd="0" presId="urn:microsoft.com/office/officeart/2005/8/layout/lProcess1#1"/>
    <dgm:cxn modelId="{F92DCA20-1BC8-4CC5-8A03-743A6D815D3F}" type="presOf" srcId="{5F6A6485-E87D-4CEA-B83C-509E69A6EA7A}" destId="{4E430678-3F58-43BE-9E25-19B8B51FE06A}" srcOrd="0" destOrd="0" presId="urn:microsoft.com/office/officeart/2005/8/layout/lProcess1#1"/>
    <dgm:cxn modelId="{33573BA4-DA3A-4483-BDDD-C41D5BD891BA}" type="presOf" srcId="{8953DE3B-6E67-4289-847D-74CB64FCF20E}" destId="{CBBB2A73-D5B5-45D0-9971-D12CDE9AB11C}" srcOrd="0" destOrd="0" presId="urn:microsoft.com/office/officeart/2005/8/layout/lProcess1#1"/>
    <dgm:cxn modelId="{E1ED8E0C-6608-4D01-B830-6C556339E3FA}" srcId="{EEB650F9-EA31-44E5-8031-A3228DAB3560}" destId="{5F6A6485-E87D-4CEA-B83C-509E69A6EA7A}" srcOrd="2" destOrd="0" parTransId="{3BCCF185-69C1-44F4-B32B-A7B6198C23E5}" sibTransId="{841878CE-99EC-40FB-BA50-E442781C32CD}"/>
    <dgm:cxn modelId="{EC73255E-626F-47EF-A17B-F42E62A379BC}" type="presOf" srcId="{74E7049D-3B61-45D3-ACDC-EF176417E62A}" destId="{090AF1B6-C33E-433B-AD79-DE435B62D85C}" srcOrd="0" destOrd="0" presId="urn:microsoft.com/office/officeart/2005/8/layout/lProcess1#1"/>
    <dgm:cxn modelId="{C31E4F2E-A532-4893-81DC-635E64921C7E}" type="presParOf" srcId="{DA079357-CE50-4940-9D39-5206B4B6747E}" destId="{80D1FAF9-48F4-4ADF-A92F-3152A1EC6098}" srcOrd="0" destOrd="0" presId="urn:microsoft.com/office/officeart/2005/8/layout/lProcess1#1"/>
    <dgm:cxn modelId="{E01DA491-826F-4E03-BD29-0CE95F78A1E0}" type="presParOf" srcId="{80D1FAF9-48F4-4ADF-A92F-3152A1EC6098}" destId="{717966B2-56E0-4340-8D0B-AC34E8D01B90}" srcOrd="0" destOrd="0" presId="urn:microsoft.com/office/officeart/2005/8/layout/lProcess1#1"/>
    <dgm:cxn modelId="{1CB6858F-ED69-42CE-AD93-3BF78F4B1DB2}" type="presParOf" srcId="{80D1FAF9-48F4-4ADF-A92F-3152A1EC6098}" destId="{546A5835-6576-41D6-BAE9-6D31C06014FF}" srcOrd="1" destOrd="0" presId="urn:microsoft.com/office/officeart/2005/8/layout/lProcess1#1"/>
    <dgm:cxn modelId="{7D6C99E3-C173-4583-8D71-DD2E58F7AED7}" type="presParOf" srcId="{80D1FAF9-48F4-4ADF-A92F-3152A1EC6098}" destId="{A515B6A9-0F0E-4A03-AF74-4E28BC797F55}" srcOrd="2" destOrd="0" presId="urn:microsoft.com/office/officeart/2005/8/layout/lProcess1#1"/>
    <dgm:cxn modelId="{E13E5922-6255-492C-B458-55D6B04A1CC8}" type="presParOf" srcId="{80D1FAF9-48F4-4ADF-A92F-3152A1EC6098}" destId="{5CA6E640-AD0C-4D86-AD56-CD0296B4CD73}" srcOrd="3" destOrd="0" presId="urn:microsoft.com/office/officeart/2005/8/layout/lProcess1#1"/>
    <dgm:cxn modelId="{BF0ABE4D-5E2C-4F17-B6E5-CFB97EBA5AF1}" type="presParOf" srcId="{80D1FAF9-48F4-4ADF-A92F-3152A1EC6098}" destId="{090AF1B6-C33E-433B-AD79-DE435B62D85C}" srcOrd="4" destOrd="0" presId="urn:microsoft.com/office/officeart/2005/8/layout/lProcess1#1"/>
    <dgm:cxn modelId="{0EBC3F3B-AB74-4112-87A6-5D37BDE34E4A}" type="presParOf" srcId="{80D1FAF9-48F4-4ADF-A92F-3152A1EC6098}" destId="{CBBB2A73-D5B5-45D0-9971-D12CDE9AB11C}" srcOrd="5" destOrd="0" presId="urn:microsoft.com/office/officeart/2005/8/layout/lProcess1#1"/>
    <dgm:cxn modelId="{0F35B45D-16A8-4E46-BAFC-F928A2BE3868}" type="presParOf" srcId="{80D1FAF9-48F4-4ADF-A92F-3152A1EC6098}" destId="{4E430678-3F58-43BE-9E25-19B8B51FE06A}" srcOrd="6" destOrd="0" presId="urn:microsoft.com/office/officeart/2005/8/layout/lProcess1#1"/>
  </dgm:cxnLst>
  <dgm:bg/>
  <dgm:whole/>
  <dgm:extLst>
    <a:ext uri="http://schemas.microsoft.com/office/drawing/2008/diagram">
      <dsp:dataModelExt xmlns=""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2241550" cy="4040505"/>
        <a:chOff x="0" y="0"/>
        <a:chExt cx="2241550" cy="4040505"/>
      </a:xfrm>
    </dsp:grpSpPr>
    <dsp:sp modelId="{717966B2-56E0-4340-8D0B-AC34E8D01B90}">
      <dsp:nvSpPr>
        <dsp:cNvPr id="3" name="Rounded Rectangle 2"/>
        <dsp:cNvSpPr/>
      </dsp:nvSpPr>
      <dsp:spPr bwMode="white">
        <a:xfrm>
          <a:off x="0" y="605274"/>
          <a:ext cx="2241550" cy="560388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27940" tIns="27940" rIns="27940" bIns="27940" anchor="ctr"/>
        <a:lstStyle>
          <a:lvl1pPr algn="ctr">
            <a:defRPr sz="2200"/>
          </a:lvl1pPr>
          <a:lvl2pPr marL="171450" indent="-171450" algn="ctr">
            <a:defRPr sz="1700"/>
          </a:lvl2pPr>
          <a:lvl3pPr marL="342900" indent="-171450" algn="ctr">
            <a:defRPr sz="1700"/>
          </a:lvl3pPr>
          <a:lvl4pPr marL="514350" indent="-171450" algn="ctr">
            <a:defRPr sz="1700"/>
          </a:lvl4pPr>
          <a:lvl5pPr marL="685800" indent="-171450" algn="ctr">
            <a:defRPr sz="1700"/>
          </a:lvl5pPr>
          <a:lvl6pPr marL="857250" indent="-171450" algn="ctr">
            <a:defRPr sz="1700"/>
          </a:lvl6pPr>
          <a:lvl7pPr marL="1028700" indent="-171450" algn="ctr">
            <a:defRPr sz="1700"/>
          </a:lvl7pPr>
          <a:lvl8pPr marL="1200150" indent="-171450" algn="ctr">
            <a:defRPr sz="1700"/>
          </a:lvl8pPr>
          <a:lvl9pPr marL="1371600" indent="-171450" algn="ctr">
            <a:defRPr sz="1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/>
            <a:t>Prediction process </a:t>
          </a:r>
          <a:endParaRPr lang="en-IN" altLang="en-US"/>
        </a:p>
      </dsp:txBody>
      <dsp:txXfrm>
        <a:off x="0" y="605274"/>
        <a:ext cx="2241550" cy="560388"/>
      </dsp:txXfrm>
    </dsp:sp>
    <dsp:sp modelId="{546A5835-6576-41D6-BAE9-6D31C06014FF}">
      <dsp:nvSpPr>
        <dsp:cNvPr id="4" name="Right Arrow 3"/>
        <dsp:cNvSpPr/>
      </dsp:nvSpPr>
      <dsp:spPr bwMode="white">
        <a:xfrm rot="5399999">
          <a:off x="1071741" y="1214695"/>
          <a:ext cx="98068" cy="98068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1071741" y="1214695"/>
        <a:ext cx="98068" cy="98068"/>
      </dsp:txXfrm>
    </dsp:sp>
    <dsp:sp modelId="{A515B6A9-0F0E-4A03-AF74-4E28BC797F55}">
      <dsp:nvSpPr>
        <dsp:cNvPr id="5" name="Rounded Rectangle 4"/>
        <dsp:cNvSpPr/>
      </dsp:nvSpPr>
      <dsp:spPr bwMode="white">
        <a:xfrm>
          <a:off x="0" y="1361797"/>
          <a:ext cx="2241550" cy="560388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>
              <a:solidFill>
                <a:schemeClr val="dk1"/>
              </a:solidFill>
              <a:sym typeface="+mn-ea"/>
            </a:rPr>
            <a:t>Data gathering</a:t>
          </a:r>
          <a:endParaRPr lang="en-IN" altLang="en-US">
            <a:solidFill>
              <a:schemeClr val="dk1"/>
            </a:solidFill>
          </a:endParaRPr>
        </a:p>
      </dsp:txBody>
      <dsp:txXfrm>
        <a:off x="0" y="1361797"/>
        <a:ext cx="2241550" cy="560388"/>
      </dsp:txXfrm>
    </dsp:sp>
    <dsp:sp modelId="{5CA6E640-AD0C-4D86-AD56-CD0296B4CD73}">
      <dsp:nvSpPr>
        <dsp:cNvPr id="6" name="Right Arrow 5"/>
        <dsp:cNvSpPr/>
      </dsp:nvSpPr>
      <dsp:spPr bwMode="white">
        <a:xfrm rot="5399999">
          <a:off x="1071741" y="1971219"/>
          <a:ext cx="98068" cy="98068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1071741" y="1971219"/>
        <a:ext cx="98068" cy="98068"/>
      </dsp:txXfrm>
    </dsp:sp>
    <dsp:sp modelId="{090AF1B6-C33E-433B-AD79-DE435B62D85C}">
      <dsp:nvSpPr>
        <dsp:cNvPr id="7" name="Rounded Rectangle 6"/>
        <dsp:cNvSpPr/>
      </dsp:nvSpPr>
      <dsp:spPr bwMode="white">
        <a:xfrm>
          <a:off x="0" y="2118320"/>
          <a:ext cx="2241550" cy="560388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altLang="en-US">
              <a:solidFill>
                <a:schemeClr val="dk1"/>
              </a:solidFill>
              <a:sym typeface="+mn-ea"/>
            </a:rPr>
            <a:t>Classification / Clustering/ time series Forcasting</a:t>
          </a:r>
          <a:endParaRPr lang="en-IN" altLang="en-US">
            <a:solidFill>
              <a:schemeClr val="dk1"/>
            </a:solidFill>
          </a:endParaRPr>
        </a:p>
      </dsp:txBody>
      <dsp:txXfrm>
        <a:off x="0" y="2118320"/>
        <a:ext cx="2241550" cy="560388"/>
      </dsp:txXfrm>
    </dsp:sp>
    <dsp:sp modelId="{CBBB2A73-D5B5-45D0-9971-D12CDE9AB11C}">
      <dsp:nvSpPr>
        <dsp:cNvPr id="16" name="Right Arrow 15"/>
        <dsp:cNvSpPr/>
      </dsp:nvSpPr>
      <dsp:spPr bwMode="white">
        <a:xfrm rot="5399999">
          <a:off x="1071741" y="2727742"/>
          <a:ext cx="98068" cy="98068"/>
        </a:xfrm>
        <a:prstGeom prst="rightArrow">
          <a:avLst>
            <a:gd name="adj1" fmla="val 66700"/>
            <a:gd name="adj2" fmla="val 50000"/>
          </a:avLst>
        </a:prstGeom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0">
          <a:scrgbClr r="0" g="0" b="0"/>
        </a:effectRef>
        <a:fontRef idx="minor">
          <a:schemeClr val="lt1"/>
        </a:fontRef>
      </dsp:style>
      <dsp:txXfrm rot="5399999">
        <a:off x="1071741" y="2727742"/>
        <a:ext cx="98068" cy="98068"/>
      </dsp:txXfrm>
    </dsp:sp>
    <dsp:sp modelId="{4E430678-3F58-43BE-9E25-19B8B51FE06A}">
      <dsp:nvSpPr>
        <dsp:cNvPr id="17" name="Rounded Rectangle 16"/>
        <dsp:cNvSpPr/>
      </dsp:nvSpPr>
      <dsp:spPr bwMode="white">
        <a:xfrm>
          <a:off x="0" y="2874843"/>
          <a:ext cx="2241550" cy="560388"/>
        </a:xfrm>
        <a:prstGeom prst="roundRect">
          <a:avLst>
            <a:gd name="adj" fmla="val 10000"/>
          </a:avLst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vert="horz" wrap="square" lIns="19050" tIns="19050" rIns="19050" bIns="19050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dk1"/>
              </a:solidFill>
              <a:sym typeface="+mn-ea"/>
            </a:rPr>
            <a:t>P</a:t>
          </a:r>
          <a:r>
            <a:rPr lang="en-IN" altLang="en-US">
              <a:solidFill>
                <a:schemeClr val="dk1"/>
              </a:solidFill>
              <a:sym typeface="+mn-ea"/>
            </a:rPr>
            <a:t>rediction / Forcast</a:t>
          </a:r>
          <a:endParaRPr lang="en-IN" altLang="en-US">
            <a:solidFill>
              <a:schemeClr val="dk1"/>
            </a:solidFill>
          </a:endParaRPr>
        </a:p>
      </dsp:txBody>
      <dsp:txXfrm>
        <a:off x="0" y="2874843"/>
        <a:ext cx="2241550" cy="5603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#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  <dgm:param type="vertAlign" val="mid"/>
          <dgm:param type="nodeHorzAlign" val="l"/>
          <dgm:param type="fallback" val="2D"/>
        </dgm:alg>
      </dgm:if>
      <dgm:else name="Name3">
        <dgm:alg type="lin">
          <dgm:param type="linDir" val="fromR"/>
          <dgm:param type="nodeVertAlign" val="t"/>
          <dgm:param type="vertAlign" val="mid"/>
          <dgm:param type="nodeHorzAlign" val="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VertAlign" val="t"/>
              <dgm:param type="nodeHorzAlign" val="ctr"/>
              <dgm:param type="fallback" val="2D"/>
            </dgm:alg>
          </dgm:if>
          <dgm:else name="Name7">
            <dgm:alg type="lin">
              <dgm:param type="linDir" val="fromT"/>
              <dgm:param type="nodeVertAlign" val="t"/>
              <dgm:param type="nodeHorzAlign" val="ctr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CFBE2-2B8D-499C-81C9-2CD5B3EB8E93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54DD7E-3179-445A-81DB-781C4554AF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545AC5-813F-4ED1-B011-8EA17CB93331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04B90-27FD-422C-8CC6-2AADAD122D0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784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568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9352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9136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8920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8704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8488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82720" algn="l" defTabSz="99568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504B90-27FD-422C-8CC6-2AADAD122D0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1240"/>
            <a:ext cx="12190401" cy="68571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4" name="부제목 2"/>
          <p:cNvSpPr>
            <a:spLocks noGrp="1"/>
          </p:cNvSpPr>
          <p:nvPr>
            <p:ph type="subTitle" idx="1"/>
          </p:nvPr>
        </p:nvSpPr>
        <p:spPr>
          <a:xfrm>
            <a:off x="6455247" y="5041547"/>
            <a:ext cx="5184576" cy="836519"/>
          </a:xfrm>
          <a:noFill/>
          <a:ln w="9525">
            <a:noFill/>
            <a:miter lim="800000"/>
          </a:ln>
        </p:spPr>
        <p:txBody>
          <a:bodyPr vert="horz" wrap="square" lIns="99569" tIns="49785" rIns="99569" bIns="49785" numCol="1" rtlCol="0" anchor="t" anchorCtr="0" compatLnSpc="1">
            <a:noAutofit/>
          </a:bodyPr>
          <a:lstStyle>
            <a:lvl1pPr marL="0" indent="0" algn="r" defTabSz="99568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1200" kern="1200" baseline="0" dirty="0">
                <a:solidFill>
                  <a:schemeClr val="bg1"/>
                </a:solidFill>
                <a:effectLst/>
                <a:latin typeface="+mj-lt"/>
                <a:ea typeface="Malgun Gothic" panose="020B0503020000020004" pitchFamily="50" charset="-127"/>
                <a:cs typeface="+mj-cs"/>
              </a:defRPr>
            </a:lvl1pPr>
            <a:lvl2pPr marL="497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3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4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2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ko-KR" altLang="en-US" dirty="0"/>
          </a:p>
        </p:txBody>
      </p:sp>
      <p:sp>
        <p:nvSpPr>
          <p:cNvPr id="15" name="제목 1"/>
          <p:cNvSpPr>
            <a:spLocks noGrp="1"/>
          </p:cNvSpPr>
          <p:nvPr>
            <p:ph type="ctrTitle" hasCustomPrompt="1"/>
          </p:nvPr>
        </p:nvSpPr>
        <p:spPr>
          <a:xfrm>
            <a:off x="6095206" y="2953315"/>
            <a:ext cx="5616624" cy="1984790"/>
          </a:xfrm>
          <a:noFill/>
          <a:ln w="9525">
            <a:noFill/>
            <a:miter lim="800000"/>
          </a:ln>
        </p:spPr>
        <p:txBody>
          <a:bodyPr vert="horz" wrap="square" lIns="99569" tIns="49785" rIns="99569" bIns="49785" numCol="1" rtlCol="0" anchor="t" anchorCtr="0" compatLnSpc="1">
            <a:noAutofit/>
          </a:bodyPr>
          <a:lstStyle>
            <a:lvl1pPr marL="0" indent="0" algn="r" defTabSz="99568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5800" kern="1200" baseline="0" dirty="0">
                <a:solidFill>
                  <a:schemeClr val="bg1"/>
                </a:solidFill>
                <a:effectLst/>
                <a:latin typeface="+mj-lt"/>
                <a:ea typeface="Malgun Gothic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제목을</a:t>
            </a:r>
            <a:r>
              <a:rPr lang="en-US" altLang="ko-KR" dirty="0"/>
              <a:t> </a:t>
            </a:r>
            <a:r>
              <a:rPr lang="ko-KR" altLang="en-US" dirty="0" smtClean="0"/>
              <a:t>입력하시오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1240"/>
            <a:ext cx="12190401" cy="6857100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1240"/>
            <a:ext cx="12190401" cy="68571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1240"/>
            <a:ext cx="12190401" cy="6857100"/>
          </a:xfrm>
          <a:prstGeom prst="rect">
            <a:avLst/>
          </a:prstGeom>
        </p:spPr>
      </p:pic>
      <p:sp>
        <p:nvSpPr>
          <p:cNvPr id="15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9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Malgun Gothic" panose="020B0503020000020004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Malgun Gothic" panose="020B0503020000020004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Malgun Gothic" panose="020B0503020000020004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Malgun Gothic" panose="020B0503020000020004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Malgun Gothic" panose="020B0503020000020004" pitchFamily="50" charset="-127"/>
              </a:defRPr>
            </a:lvl5pPr>
          </a:lstStyle>
          <a:p>
            <a:pPr lvl="0"/>
            <a:r>
              <a:rPr lang="en-US" altLang="ko-KR" dirty="0" smtClean="0"/>
              <a:t>Replace with your own text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609520" y="189434"/>
            <a:ext cx="10971373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8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rgbClr val="252A85"/>
                </a:solidFill>
                <a:effectLst/>
                <a:latin typeface="+mj-lt"/>
                <a:ea typeface="Malgun Gothic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2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13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1240"/>
            <a:ext cx="12190401" cy="6857100"/>
          </a:xfrm>
          <a:prstGeom prst="rect">
            <a:avLst/>
          </a:prstGeom>
        </p:spPr>
      </p:pic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521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165059" y="6502342"/>
            <a:ext cx="3860297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36463" y="6502342"/>
            <a:ext cx="2844430" cy="220692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제목 1"/>
          <p:cNvSpPr>
            <a:spLocks noGrp="1"/>
          </p:cNvSpPr>
          <p:nvPr>
            <p:ph type="title" hasCustomPrompt="1"/>
          </p:nvPr>
        </p:nvSpPr>
        <p:spPr>
          <a:xfrm>
            <a:off x="609521" y="189434"/>
            <a:ext cx="10971372" cy="798753"/>
          </a:xfrm>
        </p:spPr>
        <p:txBody>
          <a:bodyPr vert="horz" lIns="99569" tIns="49785" rIns="99569" bIns="49785" rtlCol="0" anchor="ctr">
            <a:normAutofit/>
          </a:bodyPr>
          <a:lstStyle>
            <a:lvl1pPr algn="l" defTabSz="995680" rtl="0" eaLnBrk="1" latinLnBrk="1" hangingPunct="1">
              <a:spcBef>
                <a:spcPct val="0"/>
              </a:spcBef>
              <a:buNone/>
              <a:defRPr lang="ko-KR" altLang="en-US" sz="4000" b="1" kern="1200" baseline="0" dirty="0">
                <a:solidFill>
                  <a:srgbClr val="252A85"/>
                </a:solidFill>
                <a:effectLst/>
                <a:latin typeface="+mj-lt"/>
                <a:ea typeface="Malgun Gothic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6" name="내용 개체 틀 2"/>
          <p:cNvSpPr>
            <a:spLocks noGrp="1"/>
          </p:cNvSpPr>
          <p:nvPr>
            <p:ph idx="1" hasCustomPrompt="1"/>
          </p:nvPr>
        </p:nvSpPr>
        <p:spPr>
          <a:xfrm>
            <a:off x="609521" y="1485578"/>
            <a:ext cx="10971372" cy="4824535"/>
          </a:xfrm>
        </p:spPr>
        <p:txBody>
          <a:bodyPr>
            <a:normAutofit/>
          </a:bodyPr>
          <a:lstStyle>
            <a:lvl1pPr algn="l">
              <a:buNone/>
              <a:defRPr sz="2000" i="1" baseline="0">
                <a:solidFill>
                  <a:srgbClr val="252A85"/>
                </a:solidFill>
                <a:latin typeface="+mj-lt"/>
                <a:ea typeface="Malgun Gothic" panose="020B0503020000020004" pitchFamily="50" charset="-127"/>
              </a:defRPr>
            </a:lvl1pPr>
            <a:lvl2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Malgun Gothic" panose="020B0503020000020004" pitchFamily="50" charset="-127"/>
              </a:defRPr>
            </a:lvl2pPr>
            <a:lvl3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Malgun Gothic" panose="020B0503020000020004" pitchFamily="50" charset="-127"/>
              </a:defRPr>
            </a:lvl3pPr>
            <a:lvl4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Malgun Gothic" panose="020B0503020000020004" pitchFamily="50" charset="-127"/>
              </a:defRPr>
            </a:lvl4pPr>
            <a:lvl5pPr algn="l">
              <a:buNone/>
              <a:defRPr sz="2500" baseline="0">
                <a:solidFill>
                  <a:schemeClr val="tx1">
                    <a:lumMod val="75000"/>
                    <a:lumOff val="25000"/>
                  </a:schemeClr>
                </a:solidFill>
                <a:latin typeface="Noto Sans" panose="020B0502040504020204" pitchFamily="34" charset="0"/>
                <a:ea typeface="Malgun Gothic" panose="020B0503020000020004" pitchFamily="50" charset="-127"/>
              </a:defRPr>
            </a:lvl5pPr>
          </a:lstStyle>
          <a:p>
            <a:pPr lvl="0"/>
            <a:r>
              <a:rPr lang="en-US" altLang="ko-KR" dirty="0" smtClean="0"/>
              <a:t>Replace with your own text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1240"/>
            <a:ext cx="12190401" cy="6857100"/>
          </a:xfrm>
          <a:prstGeom prst="rect">
            <a:avLst/>
          </a:prstGeom>
        </p:spPr>
      </p:pic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D6733-6F27-4404-AB51-585418F146E5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3070870" y="4149874"/>
            <a:ext cx="9217024" cy="1224136"/>
          </a:xfrm>
          <a:noFill/>
          <a:ln w="9525">
            <a:noFill/>
            <a:miter lim="800000"/>
          </a:ln>
        </p:spPr>
        <p:txBody>
          <a:bodyPr vert="horz" wrap="square" lIns="99569" tIns="49785" rIns="99569" bIns="49785" numCol="1" rtlCol="0" anchor="t" anchorCtr="0" compatLnSpc="1">
            <a:noAutofit/>
          </a:bodyPr>
          <a:lstStyle>
            <a:lvl1pPr marL="0" indent="0" algn="l" defTabSz="99568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Font typeface="굴림체" pitchFamily="49" charset="-127"/>
              <a:buNone/>
              <a:defRPr lang="ko-KR" altLang="en-US" sz="7200" kern="1200" baseline="0" dirty="0">
                <a:solidFill>
                  <a:schemeClr val="bg1"/>
                </a:solidFill>
                <a:effectLst/>
                <a:latin typeface="+mj-lt"/>
                <a:ea typeface="Malgun Gothic" panose="020B0503020000020004" pitchFamily="50" charset="-127"/>
                <a:cs typeface="+mj-cs"/>
              </a:defRPr>
            </a:lvl1pPr>
          </a:lstStyle>
          <a:p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012D86"/>
            </a:gs>
            <a:gs pos="100000">
              <a:srgbClr val="0E2557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21" y="19030"/>
            <a:ext cx="10971372" cy="797093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21" y="1062267"/>
            <a:ext cx="10971372" cy="5287636"/>
          </a:xfrm>
          <a:prstGeom prst="rect">
            <a:avLst/>
          </a:prstGeom>
        </p:spPr>
        <p:txBody>
          <a:bodyPr vert="horz" lIns="99569" tIns="49785" rIns="99569" bIns="49785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21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D6733-6F27-4404-AB51-585418F146E5}" type="datetimeFigureOut">
              <a:rPr lang="ko-KR" altLang="en-US" smtClean="0"/>
              <a:pPr/>
              <a:t>2026-01-25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059" y="6430887"/>
            <a:ext cx="3860297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6463" y="6430887"/>
            <a:ext cx="2844430" cy="29214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BC638-39B7-4287-91A7-2A3DDA5732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95680" rtl="0" eaLnBrk="1" latinLnBrk="1" hangingPunct="1">
        <a:spcBef>
          <a:spcPct val="0"/>
        </a:spcBef>
        <a:buNone/>
        <a:defRPr lang="ko-KR" altLang="en-US" sz="3800" kern="1200">
          <a:solidFill>
            <a:sysClr val="windowText" lastClr="000000"/>
          </a:solidFill>
          <a:latin typeface="Malgun Gothic" panose="020B0503020000020004" pitchFamily="50" charset="-127"/>
          <a:ea typeface="Malgun Gothic" panose="020B0503020000020004" pitchFamily="50" charset="-127"/>
          <a:cs typeface="+mj-cs"/>
        </a:defRPr>
      </a:lvl1pPr>
    </p:titleStyle>
    <p:bodyStyle>
      <a:lvl1pPr marL="373380" indent="-373380" algn="l" defTabSz="995680" rtl="0" eaLnBrk="1" latinLnBrk="1" hangingPunct="1">
        <a:spcBef>
          <a:spcPct val="20000"/>
        </a:spcBef>
        <a:buFont typeface="Arial" panose="020B0604020202020204" pitchFamily="34" charset="0"/>
        <a:buChar char="•"/>
        <a:defRPr lang="ko-KR" altLang="en-US" sz="2700" kern="1200" smtClean="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1pPr>
      <a:lvl2pPr marL="808990" indent="-311150" algn="l" defTabSz="995680" rtl="0" eaLnBrk="1" latinLnBrk="1" hangingPunct="1">
        <a:spcBef>
          <a:spcPct val="20000"/>
        </a:spcBef>
        <a:buFont typeface="Arial" panose="020B0604020202020204" pitchFamily="34" charset="0"/>
        <a:buChar char="–"/>
        <a:defRPr lang="ko-KR" altLang="en-US" sz="2000" kern="1200" smtClean="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2pPr>
      <a:lvl3pPr marL="1244600" indent="-248920" algn="l" defTabSz="995680" rtl="0" eaLnBrk="1" latinLnBrk="1" hangingPunct="1">
        <a:spcBef>
          <a:spcPct val="20000"/>
        </a:spcBef>
        <a:buFont typeface="Arial" panose="020B0604020202020204" pitchFamily="34" charset="0"/>
        <a:buChar char="•"/>
        <a:defRPr lang="ko-KR" altLang="en-US" sz="2000" kern="1200" smtClean="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3pPr>
      <a:lvl4pPr marL="1742440" indent="-248920" algn="l" defTabSz="995680" rtl="0" eaLnBrk="1" latinLnBrk="1" hangingPunct="1">
        <a:spcBef>
          <a:spcPct val="20000"/>
        </a:spcBef>
        <a:buFont typeface="Arial" panose="020B0604020202020204" pitchFamily="34" charset="0"/>
        <a:buChar char="–"/>
        <a:defRPr lang="ko-KR" altLang="en-US" sz="2000" kern="1200" smtClean="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4pPr>
      <a:lvl5pPr marL="2240280" indent="-248920" algn="l" defTabSz="995680" rtl="0" eaLnBrk="1" latinLnBrk="1" hangingPunct="1">
        <a:spcBef>
          <a:spcPct val="20000"/>
        </a:spcBef>
        <a:buFont typeface="Arial" panose="020B0604020202020204" pitchFamily="34" charset="0"/>
        <a:buChar char="»"/>
        <a:defRPr lang="ko-KR" altLang="en-US" sz="2000" kern="1200">
          <a:solidFill>
            <a:schemeClr val="tx1"/>
          </a:solidFill>
          <a:latin typeface="Malgun Gothic" panose="020B0503020000020004" pitchFamily="50" charset="-127"/>
          <a:ea typeface="Malgun Gothic" panose="020B0503020000020004" pitchFamily="50" charset="-127"/>
          <a:cs typeface="+mn-cs"/>
        </a:defRPr>
      </a:lvl5pPr>
      <a:lvl6pPr marL="2738120" indent="-248920" algn="l" defTabSz="995680" rtl="0" eaLnBrk="1" latinLnBrk="1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60" indent="-248920" algn="l" defTabSz="995680" rtl="0" eaLnBrk="1" latinLnBrk="1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00" indent="-248920" algn="l" defTabSz="995680" rtl="0" eaLnBrk="1" latinLnBrk="1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40" indent="-248920" algn="l" defTabSz="995680" rtl="0" eaLnBrk="1" latinLnBrk="1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8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2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6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0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4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88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20" algn="l" defTabSz="99568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" y="215084"/>
            <a:ext cx="6809585" cy="1985010"/>
          </a:xfrm>
        </p:spPr>
        <p:txBody>
          <a:bodyPr/>
          <a:lstStyle/>
          <a:p>
            <a:pPr algn="ctr"/>
            <a:r>
              <a:rPr lang="en-US" dirty="0" smtClean="0"/>
              <a:t> </a:t>
            </a:r>
            <a:r>
              <a:rPr lang="en-US" b="1" dirty="0" smtClean="0"/>
              <a:t>Crime Pattern 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Detection</a:t>
            </a:r>
            <a:r>
              <a:rPr lang="en-US" b="1" dirty="0" smtClean="0"/>
              <a:t>, Analysis &amp; Prediction </a:t>
            </a:r>
            <a:endParaRPr lang="en-IN" altLang="ko-KR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5866" y="2143910"/>
            <a:ext cx="591263" cy="572977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/>
          <p:cNvSpPr txBox="1"/>
          <p:nvPr/>
        </p:nvSpPr>
        <p:spPr>
          <a:xfrm>
            <a:off x="1774726" y="1701602"/>
            <a:ext cx="31683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 smtClean="0">
                <a:solidFill>
                  <a:schemeClr val="bg1"/>
                </a:solidFill>
                <a:latin typeface="+mj-lt"/>
                <a:ea typeface="Malgun Gothic" panose="020B0503020000020004" pitchFamily="50" charset="-127"/>
              </a:rPr>
              <a:t>CONTENTS</a:t>
            </a:r>
            <a:endParaRPr lang="ko-KR" altLang="en-US" sz="4400" b="1" dirty="0">
              <a:solidFill>
                <a:schemeClr val="bg1"/>
              </a:solidFill>
              <a:latin typeface="+mj-lt"/>
              <a:ea typeface="Malgun Gothic" panose="020B0503020000020004" pitchFamily="50" charset="-127"/>
            </a:endParaRPr>
          </a:p>
        </p:txBody>
      </p:sp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6452870" y="63500"/>
            <a:ext cx="4908550" cy="68624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altLang="ko-KR" b="1" dirty="0" smtClean="0">
                <a:solidFill>
                  <a:schemeClr val="bg1"/>
                </a:solidFill>
                <a:latin typeface="+mj-lt"/>
              </a:rPr>
              <a:t>01  </a:t>
            </a: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Introduction</a:t>
            </a:r>
            <a:endParaRPr lang="en-US" altLang="ko-KR" b="1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b="1" dirty="0">
                <a:solidFill>
                  <a:schemeClr val="bg1"/>
                </a:solidFill>
                <a:latin typeface="+mj-lt"/>
              </a:rPr>
              <a:t>0</a:t>
            </a:r>
            <a:r>
              <a:rPr lang="en-IN" altLang="en-US" b="1" dirty="0">
                <a:solidFill>
                  <a:schemeClr val="bg1"/>
                </a:solidFill>
                <a:latin typeface="+mj-lt"/>
              </a:rPr>
              <a:t>2</a:t>
            </a:r>
            <a:r>
              <a:rPr lang="en-US" altLang="ko-KR" b="1" dirty="0" smtClean="0">
                <a:solidFill>
                  <a:schemeClr val="bg1"/>
                </a:solidFill>
                <a:latin typeface="+mj-lt"/>
              </a:rPr>
              <a:t>  </a:t>
            </a: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Bliss of Automation</a:t>
            </a:r>
            <a:endParaRPr lang="en-US" altLang="ko-KR" b="1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b="1" dirty="0">
                <a:solidFill>
                  <a:schemeClr val="bg1"/>
                </a:solidFill>
                <a:latin typeface="+mj-lt"/>
              </a:rPr>
              <a:t>0</a:t>
            </a:r>
            <a:r>
              <a:rPr lang="en-IN" altLang="en-US" b="1" dirty="0">
                <a:solidFill>
                  <a:schemeClr val="bg1"/>
                </a:solidFill>
                <a:latin typeface="+mj-lt"/>
              </a:rPr>
              <a:t>3</a:t>
            </a:r>
            <a:r>
              <a:rPr lang="en-US" altLang="ko-KR" b="1" dirty="0" smtClean="0">
                <a:solidFill>
                  <a:schemeClr val="bg1"/>
                </a:solidFill>
                <a:latin typeface="+mj-lt"/>
              </a:rPr>
              <a:t>  </a:t>
            </a: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Use of Dataset</a:t>
            </a:r>
            <a:endParaRPr lang="en-US" altLang="ko-KR" b="1" dirty="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ko-KR" b="1" dirty="0">
                <a:solidFill>
                  <a:schemeClr val="bg1"/>
                </a:solidFill>
                <a:latin typeface="+mj-lt"/>
              </a:rPr>
              <a:t>0</a:t>
            </a:r>
            <a:r>
              <a:rPr lang="en-IN" altLang="en-US" b="1" dirty="0">
                <a:solidFill>
                  <a:schemeClr val="bg1"/>
                </a:solidFill>
                <a:latin typeface="+mj-lt"/>
              </a:rPr>
              <a:t>4</a:t>
            </a:r>
            <a:r>
              <a:rPr lang="en-US" altLang="ko-KR" b="1" dirty="0" smtClean="0">
                <a:solidFill>
                  <a:schemeClr val="bg1"/>
                </a:solidFill>
                <a:latin typeface="+mj-lt"/>
              </a:rPr>
              <a:t>  </a:t>
            </a: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Data pre-processing</a:t>
            </a:r>
          </a:p>
          <a:p>
            <a:pPr>
              <a:lnSpc>
                <a:spcPct val="200000"/>
              </a:lnSpc>
              <a:defRPr/>
            </a:pP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05 Vizualization</a:t>
            </a:r>
          </a:p>
          <a:p>
            <a:pPr>
              <a:lnSpc>
                <a:spcPct val="200000"/>
              </a:lnSpc>
              <a:defRPr/>
            </a:pP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06 Time Series Forcasting</a:t>
            </a:r>
          </a:p>
          <a:p>
            <a:pPr>
              <a:lnSpc>
                <a:spcPct val="200000"/>
              </a:lnSpc>
              <a:defRPr/>
            </a:pP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07 Classification</a:t>
            </a:r>
          </a:p>
          <a:p>
            <a:pPr>
              <a:lnSpc>
                <a:spcPct val="200000"/>
              </a:lnSpc>
              <a:defRPr/>
            </a:pP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08 Clusttering</a:t>
            </a:r>
          </a:p>
          <a:p>
            <a:pPr>
              <a:lnSpc>
                <a:spcPct val="200000"/>
              </a:lnSpc>
              <a:defRPr/>
            </a:pP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09 Crime mapping</a:t>
            </a:r>
          </a:p>
          <a:p>
            <a:pPr>
              <a:lnSpc>
                <a:spcPct val="200000"/>
              </a:lnSpc>
              <a:defRPr/>
            </a:pPr>
            <a:r>
              <a:rPr lang="en-IN" altLang="en-US" b="1" dirty="0" smtClean="0">
                <a:solidFill>
                  <a:schemeClr val="bg1"/>
                </a:solidFill>
                <a:latin typeface="+mj-lt"/>
              </a:rPr>
              <a:t>10 Conclusion</a:t>
            </a:r>
          </a:p>
          <a:p>
            <a:pPr>
              <a:lnSpc>
                <a:spcPct val="200000"/>
              </a:lnSpc>
              <a:defRPr/>
            </a:pPr>
            <a:endParaRPr lang="en-IN" altLang="en-US" b="1" dirty="0" smtClean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12065" y="543560"/>
            <a:ext cx="7978775" cy="1312545"/>
          </a:xfrm>
        </p:spPr>
        <p:txBody>
          <a:bodyPr/>
          <a:lstStyle/>
          <a:p>
            <a:r>
              <a:rPr lang="en-IN" altLang="ko-KR" sz="3200" b="1" dirty="0"/>
              <a:t>01</a:t>
            </a:r>
            <a:r>
              <a:rPr lang="en-IN" altLang="ko-KR" sz="3200" dirty="0"/>
              <a:t/>
            </a:r>
            <a:br>
              <a:rPr lang="en-IN" altLang="ko-KR" sz="3200" dirty="0"/>
            </a:br>
            <a:r>
              <a:rPr kumimoji="1" lang="en-US" altLang="ko-KR" sz="3200" b="1">
                <a:solidFill>
                  <a:schemeClr val="bg1"/>
                </a:solidFill>
                <a:cs typeface="굴림" pitchFamily="50" charset="-127"/>
                <a:sym typeface="+mn-ea"/>
              </a:rPr>
              <a:t>W</a:t>
            </a:r>
            <a:r>
              <a:rPr kumimoji="1" lang="en-IN" sz="3200" b="1">
                <a:solidFill>
                  <a:schemeClr val="bg1"/>
                </a:solidFill>
                <a:cs typeface="굴림" pitchFamily="50" charset="-127"/>
                <a:sym typeface="+mn-ea"/>
              </a:rPr>
              <a:t>hy crimes should</a:t>
            </a:r>
            <a:br>
              <a:rPr kumimoji="1" lang="en-IN" sz="3200" b="1">
                <a:solidFill>
                  <a:schemeClr val="bg1"/>
                </a:solidFill>
                <a:cs typeface="굴림" pitchFamily="50" charset="-127"/>
                <a:sym typeface="+mn-ea"/>
              </a:rPr>
            </a:br>
            <a:r>
              <a:rPr kumimoji="1" lang="en-IN" sz="3200" b="1">
                <a:solidFill>
                  <a:schemeClr val="bg1"/>
                </a:solidFill>
                <a:cs typeface="굴림" pitchFamily="50" charset="-127"/>
                <a:sym typeface="+mn-ea"/>
              </a:rPr>
              <a:t>be predicted?</a:t>
            </a:r>
            <a:br>
              <a:rPr kumimoji="1" lang="en-IN" sz="3200" b="1">
                <a:solidFill>
                  <a:schemeClr val="bg1"/>
                </a:solidFill>
                <a:cs typeface="굴림" pitchFamily="50" charset="-127"/>
                <a:sym typeface="+mn-ea"/>
              </a:rPr>
            </a:br>
            <a:r>
              <a:rPr kumimoji="1" lang="en-IN" sz="1800" b="1">
                <a:solidFill>
                  <a:schemeClr val="bg1"/>
                </a:solidFill>
                <a:cs typeface="굴림" pitchFamily="50" charset="-127"/>
                <a:sym typeface="+mn-ea"/>
              </a:rPr>
              <a:t>(Introduction)</a:t>
            </a:r>
            <a:endParaRPr kumimoji="1" lang="en-IN" altLang="ko-KR" sz="1800" b="1" dirty="0">
              <a:solidFill>
                <a:schemeClr val="bg1"/>
              </a:solidFill>
              <a:cs typeface="굴림" pitchFamily="50" charset="-127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917440" y="466090"/>
            <a:ext cx="720979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altLang="en-US" b="1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Crimes are a common social problem affecting the quality of life and </a:t>
            </a:r>
            <a:r>
              <a:rPr lang="en-IN" altLang="en-US" b="1" dirty="0" smtClean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 the </a:t>
            </a:r>
            <a:r>
              <a:rPr lang="en-IN" altLang="en-US" b="1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economic growth of a society.</a:t>
            </a:r>
          </a:p>
          <a:p>
            <a:pPr algn="just"/>
            <a:endParaRPr lang="en-IN" altLang="en-US" b="1" dirty="0">
              <a:solidFill>
                <a:srgbClr val="FBFBFB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cs typeface="+mn-lt"/>
              <a:sym typeface="+mn-ea"/>
            </a:endParaRPr>
          </a:p>
          <a:p>
            <a:pPr algn="just"/>
            <a:r>
              <a:rPr lang="en-IN" altLang="en-US" b="1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C</a:t>
            </a:r>
            <a:r>
              <a:rPr lang="en-US" b="1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rimes could occur </a:t>
            </a:r>
            <a:r>
              <a:rPr lang="en-US" b="1" dirty="0" smtClean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anywhere</a:t>
            </a:r>
            <a:r>
              <a:rPr lang="en-US" b="1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, it is common that criminals work on crime opportunities they face in most familiar areas for them. </a:t>
            </a:r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sym typeface="+mn-ea"/>
              </a:rPr>
              <a:t>It is</a:t>
            </a:r>
          </a:p>
          <a:p>
            <a:pPr algn="just"/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sym typeface="+mn-ea"/>
              </a:rPr>
              <a:t>considered as an essential factor that determines whether or not</a:t>
            </a:r>
          </a:p>
          <a:p>
            <a:pPr algn="just"/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sym typeface="+mn-ea"/>
              </a:rPr>
              <a:t>people move to a new city and what places should be avoided when </a:t>
            </a:r>
            <a:r>
              <a:rPr lang="en-US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sym typeface="+mn-ea"/>
              </a:rPr>
              <a:t> they </a:t>
            </a:r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sym typeface="+mn-ea"/>
              </a:rPr>
              <a:t>travel . </a:t>
            </a:r>
            <a:endParaRPr lang="en-US" b="1" dirty="0">
              <a:solidFill>
                <a:srgbClr val="FBFBFB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cs typeface="+mn-lt"/>
              <a:sym typeface="+mn-ea"/>
            </a:endParaRPr>
          </a:p>
          <a:p>
            <a:pPr algn="just"/>
            <a:endParaRPr lang="en-IN" altLang="en-US" b="1" dirty="0">
              <a:solidFill>
                <a:srgbClr val="FBFBFB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cs typeface="+mn-lt"/>
              <a:sym typeface="+mn-ea"/>
            </a:endParaRPr>
          </a:p>
          <a:p>
            <a:pPr algn="just"/>
            <a:r>
              <a:rPr lang="en-US" b="1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By providing a data mining approach to determine the most criminal hotspots and find the type, location and time of committed crimes, </a:t>
            </a:r>
            <a:r>
              <a:rPr lang="en-US" b="1" dirty="0" smtClean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  we </a:t>
            </a:r>
            <a:r>
              <a:rPr lang="en-US" b="1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hope to raise people’s awareness regarding the dangerous</a:t>
            </a:r>
          </a:p>
          <a:p>
            <a:pPr algn="just"/>
            <a:r>
              <a:rPr lang="en-US" b="1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locations in certain time periods</a:t>
            </a:r>
            <a:r>
              <a:rPr lang="en-US" dirty="0">
                <a:solidFill>
                  <a:srgbClr val="FBFBFB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  <a:sym typeface="+mn-ea"/>
              </a:rPr>
              <a:t>.</a:t>
            </a:r>
          </a:p>
          <a:p>
            <a:pPr algn="just"/>
            <a:endParaRPr lang="en-US" dirty="0">
              <a:solidFill>
                <a:srgbClr val="FBFBFB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cs typeface="+mn-lt"/>
              <a:sym typeface="+mn-ea"/>
            </a:endParaRPr>
          </a:p>
          <a:p>
            <a:pPr algn="just"/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By </a:t>
            </a:r>
            <a:r>
              <a:rPr lang="en-US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 hand,  these  are  </a:t>
            </a:r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arduous </a:t>
            </a:r>
            <a:r>
              <a:rPr lang="en-US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 tasks  </a:t>
            </a:r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but </a:t>
            </a:r>
            <a:r>
              <a:rPr lang="en-US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 AI categorization  through          </a:t>
            </a:r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massive </a:t>
            </a:r>
            <a:r>
              <a:rPr lang="en-US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 amounts  </a:t>
            </a:r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of </a:t>
            </a:r>
            <a:r>
              <a:rPr lang="en-US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 visual  </a:t>
            </a:r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data </a:t>
            </a:r>
            <a:r>
              <a:rPr lang="en-US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 along  with  </a:t>
            </a:r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ML </a:t>
            </a:r>
            <a:r>
              <a:rPr lang="en-US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 behavior</a:t>
            </a:r>
            <a:endParaRPr lang="en-US" b="1" dirty="0"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cs typeface="+mn-lt"/>
            </a:endParaRPr>
          </a:p>
          <a:p>
            <a:pPr algn="just"/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scripts AI/ML algorithms can eliminate human errors especially in</a:t>
            </a:r>
          </a:p>
          <a:p>
            <a:pPr algn="just"/>
            <a:r>
              <a:rPr lang="en-US" b="1" dirty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cs typeface="+mn-lt"/>
              </a:rPr>
              <a:t>witness identification and therefore increasing arrest accuracy. </a:t>
            </a:r>
          </a:p>
          <a:p>
            <a:pPr algn="just"/>
            <a:endParaRPr lang="en-US" b="1" dirty="0"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cs typeface="+mn-lt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136900" y="588010"/>
            <a:ext cx="4064635" cy="1083959"/>
            <a:chOff x="3006462" y="707524"/>
            <a:chExt cx="3237233" cy="1084039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3024989" y="1269554"/>
              <a:ext cx="3218706" cy="522009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IN" altLang="en-US" sz="2800" b="1" dirty="0">
                  <a:solidFill>
                    <a:srgbClr val="252A85"/>
                  </a:solidFill>
                  <a:latin typeface="+mj-lt"/>
                  <a:cs typeface="굴림" pitchFamily="50" charset="-127"/>
                </a:rPr>
                <a:t>Bliss of Automation</a:t>
              </a:r>
            </a:p>
          </p:txBody>
        </p: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3006462" y="707524"/>
              <a:ext cx="936104" cy="706807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4000" b="1" dirty="0" smtClean="0">
                  <a:solidFill>
                    <a:srgbClr val="252A85"/>
                  </a:solidFill>
                  <a:latin typeface="+mj-lt"/>
                  <a:ea typeface="Malgun Gothic" panose="020B0503020000020004" pitchFamily="50" charset="-127"/>
                  <a:cs typeface="굴림" pitchFamily="50" charset="-127"/>
                </a:rPr>
                <a:t>0</a:t>
              </a:r>
              <a:r>
                <a:rPr kumimoji="1" lang="en-IN" altLang="en-US" sz="4000" b="1" dirty="0" smtClean="0">
                  <a:solidFill>
                    <a:srgbClr val="252A85"/>
                  </a:solidFill>
                  <a:latin typeface="+mj-lt"/>
                  <a:ea typeface="Malgun Gothic" panose="020B0503020000020004" pitchFamily="50" charset="-127"/>
                  <a:cs typeface="굴림" pitchFamily="50" charset="-127"/>
                </a:rPr>
                <a:t>2</a:t>
              </a:r>
            </a:p>
          </p:txBody>
        </p:sp>
      </p:grp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638810" y="1405255"/>
            <a:ext cx="5335270" cy="5692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r>
              <a:rPr kumimoji="1" lang="en-IN" altLang="en-US" b="1" i="1" dirty="0">
                <a:solidFill>
                  <a:schemeClr val="bg1"/>
                </a:solidFill>
                <a:latin typeface="+mj-lt"/>
                <a:cs typeface="굴림" pitchFamily="50" charset="-127"/>
              </a:rPr>
              <a:t>Steps:</a:t>
            </a:r>
            <a:endParaRPr kumimoji="1" lang="en-US" altLang="ko-KR" sz="1800" dirty="0">
              <a:solidFill>
                <a:schemeClr val="bg1"/>
              </a:solidFill>
              <a:latin typeface="+mj-lt"/>
              <a:cs typeface="굴림" pitchFamily="50" charset="-127"/>
            </a:endParaRPr>
          </a:p>
          <a:p>
            <a:pPr marR="0" indent="-2286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>
                <a:solidFill>
                  <a:schemeClr val="bg1"/>
                </a:solidFill>
                <a:sym typeface="+mn-ea"/>
              </a:rPr>
              <a:t> Data Collection</a:t>
            </a:r>
          </a:p>
          <a:p>
            <a:pPr marR="0" indent="-2286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>
                <a:solidFill>
                  <a:schemeClr val="bg1"/>
                </a:solidFill>
                <a:sym typeface="+mn-ea"/>
              </a:rPr>
              <a:t>Data Preparation</a:t>
            </a:r>
          </a:p>
          <a:p>
            <a:pPr marR="0" indent="-2286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>
                <a:solidFill>
                  <a:schemeClr val="bg1"/>
                </a:solidFill>
                <a:sym typeface="+mn-ea"/>
              </a:rPr>
              <a:t>Choos</a:t>
            </a:r>
            <a:r>
              <a:rPr lang="en-IN" altLang="en-US" sz="1800">
                <a:solidFill>
                  <a:schemeClr val="bg1"/>
                </a:solidFill>
                <a:sym typeface="+mn-ea"/>
              </a:rPr>
              <a:t>ing</a:t>
            </a:r>
            <a:r>
              <a:rPr lang="en-US" sz="1800">
                <a:solidFill>
                  <a:schemeClr val="bg1"/>
                </a:solidFill>
                <a:sym typeface="+mn-ea"/>
              </a:rPr>
              <a:t> a Model</a:t>
            </a:r>
          </a:p>
          <a:p>
            <a:pPr marR="0" indent="-2286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>
                <a:solidFill>
                  <a:schemeClr val="bg1"/>
                </a:solidFill>
                <a:sym typeface="+mn-ea"/>
              </a:rPr>
              <a:t>Train the Model</a:t>
            </a:r>
          </a:p>
          <a:p>
            <a:pPr marR="0" indent="-2286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>
                <a:solidFill>
                  <a:schemeClr val="bg1"/>
                </a:solidFill>
                <a:sym typeface="+mn-ea"/>
              </a:rPr>
              <a:t>Evaluat</a:t>
            </a:r>
            <a:r>
              <a:rPr lang="en-IN" altLang="en-US" sz="1800">
                <a:solidFill>
                  <a:schemeClr val="bg1"/>
                </a:solidFill>
                <a:sym typeface="+mn-ea"/>
              </a:rPr>
              <a:t>ion of</a:t>
            </a:r>
            <a:r>
              <a:rPr lang="en-US" sz="1800">
                <a:solidFill>
                  <a:schemeClr val="bg1"/>
                </a:solidFill>
                <a:sym typeface="+mn-ea"/>
              </a:rPr>
              <a:t> the Model</a:t>
            </a:r>
          </a:p>
          <a:p>
            <a:pPr marR="0" indent="-2286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>
                <a:solidFill>
                  <a:schemeClr val="bg1"/>
                </a:solidFill>
                <a:sym typeface="+mn-ea"/>
              </a:rPr>
              <a:t>Parameter Tuning</a:t>
            </a:r>
          </a:p>
          <a:p>
            <a:pPr marR="0" indent="-2286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1800">
                <a:solidFill>
                  <a:schemeClr val="bg1"/>
                </a:solidFill>
                <a:sym typeface="+mn-ea"/>
              </a:rPr>
              <a:t>Mak</a:t>
            </a:r>
            <a:r>
              <a:rPr lang="en-IN" altLang="en-US" sz="1800">
                <a:solidFill>
                  <a:schemeClr val="bg1"/>
                </a:solidFill>
                <a:sym typeface="+mn-ea"/>
              </a:rPr>
              <a:t>ing</a:t>
            </a:r>
            <a:r>
              <a:rPr lang="en-US" sz="1800">
                <a:solidFill>
                  <a:schemeClr val="bg1"/>
                </a:solidFill>
                <a:sym typeface="+mn-ea"/>
              </a:rPr>
              <a:t> Predictions</a:t>
            </a:r>
            <a:endParaRPr lang="en-US" sz="1800">
              <a:solidFill>
                <a:schemeClr val="bg1"/>
              </a:solidFill>
            </a:endParaRPr>
          </a:p>
          <a:p>
            <a:pPr marR="0" indent="-2286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kumimoji="1" lang="en-US" altLang="ko-KR" sz="1800" dirty="0">
              <a:solidFill>
                <a:schemeClr val="bg1"/>
              </a:solidFill>
              <a:latin typeface="+mj-lt"/>
              <a:cs typeface="굴림" pitchFamily="50" charset="-127"/>
            </a:endParaRPr>
          </a:p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endParaRPr kumimoji="1" lang="en-US" altLang="ko-KR" sz="1800" dirty="0">
              <a:solidFill>
                <a:schemeClr val="bg1"/>
              </a:solidFill>
              <a:latin typeface="+mj-lt"/>
              <a:cs typeface="굴림" pitchFamily="50" charset="-127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797040" y="1073785"/>
            <a:ext cx="4757420" cy="19380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Automation is the technology </a:t>
            </a:r>
          </a:p>
          <a:p>
            <a:r>
              <a:rPr lang="en-US" b="1">
                <a:solidFill>
                  <a:schemeClr val="bg1"/>
                </a:solidFill>
              </a:rPr>
              <a:t>by which a process or procedure </a:t>
            </a:r>
          </a:p>
          <a:p>
            <a:r>
              <a:rPr lang="en-US" b="1">
                <a:solidFill>
                  <a:schemeClr val="bg1"/>
                </a:solidFill>
              </a:rPr>
              <a:t>is performed with minimal human </a:t>
            </a:r>
          </a:p>
          <a:p>
            <a:r>
              <a:rPr lang="en-US" b="1">
                <a:solidFill>
                  <a:schemeClr val="bg1"/>
                </a:solidFill>
              </a:rPr>
              <a:t>assistance. By simplifying change  through </a:t>
            </a:r>
          </a:p>
          <a:p>
            <a:r>
              <a:rPr lang="en-US" b="1">
                <a:solidFill>
                  <a:schemeClr val="bg1"/>
                </a:solidFill>
              </a:rPr>
              <a:t>automation, you gain the time and energy to</a:t>
            </a:r>
          </a:p>
          <a:p>
            <a:r>
              <a:rPr lang="en-US" b="1">
                <a:solidFill>
                  <a:schemeClr val="bg1"/>
                </a:solidFill>
              </a:rPr>
              <a:t>focus on innovation.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797040" y="3187700"/>
            <a:ext cx="5213985" cy="2922905"/>
          </a:xfrm>
          <a:prstGeom prst="rect">
            <a:avLst/>
          </a:prstGeom>
          <a:solidFill>
            <a:schemeClr val="bg1">
              <a:lumMod val="85000"/>
              <a:alpha val="52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altLang="en-US" b="1" i="1" dirty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AI/ML are used to find locations or areas where most of the criminal activities takes place. AI/ML algorithms can eliminate human errors therefore increasing arrest </a:t>
            </a:r>
            <a:r>
              <a:rPr lang="en-IN" altLang="en-US" b="1" i="1" dirty="0" smtClean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accuracy.”</a:t>
            </a:r>
            <a:r>
              <a:rPr lang="en-IN" altLang="en-US" sz="2400" b="1" i="1" dirty="0" smtClean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Predictive </a:t>
            </a:r>
            <a:r>
              <a:rPr lang="en-IN" altLang="en-US" sz="2400" b="1" i="1" dirty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policing”</a:t>
            </a:r>
            <a:r>
              <a:rPr lang="en-IN" altLang="en-US" b="1" i="1" dirty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 is </a:t>
            </a:r>
            <a:r>
              <a:rPr lang="en-IN" altLang="en-US" b="1" i="1" dirty="0" smtClean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 the </a:t>
            </a:r>
            <a:r>
              <a:rPr lang="en-IN" altLang="en-US" b="1" i="1" dirty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practice of identifying the date, times and</a:t>
            </a:r>
          </a:p>
          <a:p>
            <a:r>
              <a:rPr lang="en-IN" altLang="en-US" b="1" i="1" dirty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locations where specific crimes are most likely to </a:t>
            </a:r>
            <a:r>
              <a:rPr lang="en-IN" altLang="en-US" b="1" i="1" dirty="0" smtClean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 occur</a:t>
            </a:r>
            <a:r>
              <a:rPr lang="en-IN" altLang="en-US" b="1" i="1" dirty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, then scheduling officers to patrol those areas in hopes of preventing crimes from taking </a:t>
            </a:r>
          </a:p>
          <a:p>
            <a:r>
              <a:rPr lang="en-IN" altLang="en-US" b="1" i="1" dirty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place, therefore keeping </a:t>
            </a:r>
            <a:r>
              <a:rPr lang="en-IN" altLang="en-US" b="1" i="1" dirty="0" smtClean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neighbourhoods </a:t>
            </a:r>
            <a:r>
              <a:rPr lang="en-IN" altLang="en-US" b="1" i="1" dirty="0">
                <a:solidFill>
                  <a:srgbClr val="2727AD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Malgun Gothic" panose="020B0503020000020004" pitchFamily="50" charset="-127"/>
                <a:cs typeface="+mn-lt"/>
              </a:rPr>
              <a:t>safer. 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3" grpId="0"/>
      <p:bldP spid="3" grpId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5271770" y="-48895"/>
            <a:ext cx="7978775" cy="1005840"/>
          </a:xfrm>
        </p:spPr>
        <p:txBody>
          <a:bodyPr/>
          <a:lstStyle/>
          <a:p>
            <a:r>
              <a:rPr lang="en-IN" altLang="ko-KR" sz="4800" dirty="0"/>
              <a:t>03</a:t>
            </a:r>
            <a:br>
              <a:rPr lang="en-IN" altLang="ko-KR" sz="4800" dirty="0"/>
            </a:br>
            <a:r>
              <a:rPr lang="en-IN" altLang="ko-KR" sz="4000" dirty="0"/>
              <a:t>Use of Dataset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952875" y="1444625"/>
            <a:ext cx="830834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>
                <a:solidFill>
                  <a:schemeClr val="bg1"/>
                </a:solidFill>
              </a:rPr>
              <a:t>The data which we have used in this model has been collected from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    Toronto Police Service- Public safety portal.</a:t>
            </a:r>
          </a:p>
          <a:p>
            <a:pPr indent="0">
              <a:buFont typeface="Arial" panose="020B0604020202020204" pitchFamily="34" charset="0"/>
              <a:buNone/>
            </a:pPr>
            <a:endParaRPr lang="en-IN" altLang="en-US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>
                <a:solidFill>
                  <a:schemeClr val="bg1"/>
                </a:solidFill>
              </a:rPr>
              <a:t> This collected data can be used to extract meaningful information which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can help both the police department and the public to maintain safe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surroundings. Identifying crime and predicting dangerous hotspots at a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certain time and place could provide a better visualization for both public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and authorities.</a:t>
            </a:r>
          </a:p>
          <a:p>
            <a:pPr indent="0">
              <a:buFont typeface="Arial" panose="020B0604020202020204" pitchFamily="34" charset="0"/>
              <a:buNone/>
            </a:pPr>
            <a:endParaRPr lang="en-IN" altLang="en-US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>
                <a:solidFill>
                  <a:schemeClr val="bg1"/>
                </a:solidFill>
              </a:rPr>
              <a:t>In this dataset we have columns such as- Occurence date, month, reporting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date , Neighborhood, type of offence, MCI (or Major Crime Indicators). This 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would help in clearly showcasing which neighbourhood are dangerous and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require more focus of police agencies. It would also supplement to the general public’s knowledge for their own well-being and safety.</a:t>
            </a:r>
          </a:p>
          <a:p>
            <a:pPr indent="0">
              <a:buFont typeface="Arial" panose="020B0604020202020204" pitchFamily="34" charset="0"/>
              <a:buNone/>
            </a:pPr>
            <a:endParaRPr lang="en-IN" altLang="en-US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>
                <a:solidFill>
                  <a:schemeClr val="bg1"/>
                </a:solidFill>
              </a:rPr>
              <a:t>We have used several time series forcasting along with classification and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>
                <a:solidFill>
                  <a:schemeClr val="bg1"/>
                </a:solidFill>
              </a:rPr>
              <a:t> clustering algorithms to validate the results.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171450" y="956945"/>
          <a:ext cx="2241550" cy="4040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altLang="ko-KR" dirty="0"/>
              <a:t>04</a:t>
            </a:r>
            <a:br>
              <a:rPr lang="en-IN" altLang="ko-KR" dirty="0"/>
            </a:br>
            <a:r>
              <a:rPr lang="en-IN" altLang="ko-KR" dirty="0"/>
              <a:t>Data Pre-Processing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00965" y="1452880"/>
            <a:ext cx="5686425" cy="470789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14:hiddenFill>
            </a:ext>
          </a:extLst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altLang="en-US" b="1" i="1"/>
              <a:t>There were many duplicates as well as there werecolumns like X,Y coordinates , NeighborhoodID,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ReportDayOfweek, etc which were not that relevant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for predictions and clustering so we had to drop those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columns.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b="1" i="1"/>
              <a:t>Using the data after dropping these columns we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 have done various vizualizations using grouping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b="1" i="1"/>
              <a:t>We had to factorise various independent and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dependent variable for classification. Also,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OneHotEncoder() was used  to all the X variables for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input into the classification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b="1" i="1"/>
              <a:t>Also we, have considered those crimes which took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b="1" i="1"/>
              <a:t> place after December 2014 as before that there were not sufficient data.</a:t>
            </a:r>
          </a:p>
        </p:txBody>
      </p:sp>
      <p:pic>
        <p:nvPicPr>
          <p:cNvPr id="7" name="Content Placeholder 6" descr="Screenshot 2020-12-02 23.43.38"/>
          <p:cNvPicPr>
            <a:picLocks noGrp="1" noChangeAspect="1"/>
          </p:cNvPicPr>
          <p:nvPr>
            <p:ph idx="1"/>
          </p:nvPr>
        </p:nvPicPr>
        <p:blipFill>
          <a:blip r:embed="rId2"/>
          <a:srcRect l="20641" t="42274" r="50218" b="29258"/>
          <a:stretch>
            <a:fillRect/>
          </a:stretch>
        </p:blipFill>
        <p:spPr>
          <a:xfrm>
            <a:off x="5787390" y="4932680"/>
            <a:ext cx="4693920" cy="1843405"/>
          </a:xfrm>
          <a:prstGeom prst="rect">
            <a:avLst/>
          </a:prstGeom>
        </p:spPr>
      </p:pic>
      <p:pic>
        <p:nvPicPr>
          <p:cNvPr id="8" name="Picture 7" descr="Screenshot 2020-12-02 23.45.57"/>
          <p:cNvPicPr>
            <a:picLocks noChangeAspect="1"/>
          </p:cNvPicPr>
          <p:nvPr/>
        </p:nvPicPr>
        <p:blipFill>
          <a:blip r:embed="rId3"/>
          <a:srcRect l="16016" t="49293" r="20903" b="24893"/>
          <a:stretch>
            <a:fillRect/>
          </a:stretch>
        </p:blipFill>
        <p:spPr>
          <a:xfrm>
            <a:off x="5787390" y="2822575"/>
            <a:ext cx="5949950" cy="1983105"/>
          </a:xfrm>
          <a:prstGeom prst="rect">
            <a:avLst/>
          </a:prstGeom>
        </p:spPr>
      </p:pic>
      <p:pic>
        <p:nvPicPr>
          <p:cNvPr id="9" name="Picture 8" descr="Screenshot 2020-12-03 00.01.31"/>
          <p:cNvPicPr>
            <a:picLocks noChangeAspect="1"/>
          </p:cNvPicPr>
          <p:nvPr/>
        </p:nvPicPr>
        <p:blipFill>
          <a:blip r:embed="rId4"/>
          <a:srcRect l="22172" t="43401" r="16824" b="26263"/>
          <a:stretch>
            <a:fillRect/>
          </a:stretch>
        </p:blipFill>
        <p:spPr>
          <a:xfrm>
            <a:off x="5787390" y="260350"/>
            <a:ext cx="6452235" cy="24638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71755" y="-2540"/>
            <a:ext cx="12277725" cy="6866255"/>
          </a:xfr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426085" y="-133350"/>
            <a:ext cx="63226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400" b="1">
                <a:solidFill>
                  <a:schemeClr val="bg1"/>
                </a:solidFill>
              </a:rPr>
              <a:t>05</a:t>
            </a:r>
          </a:p>
          <a:p>
            <a:r>
              <a:rPr lang="en-IN" altLang="en-US" sz="4400" b="1">
                <a:solidFill>
                  <a:schemeClr val="bg1"/>
                </a:solidFill>
              </a:rPr>
              <a:t>Vizualization</a:t>
            </a:r>
          </a:p>
        </p:txBody>
      </p:sp>
      <p:pic>
        <p:nvPicPr>
          <p:cNvPr id="97" name="Picture 97" descr="Screenshot (683)"/>
          <p:cNvPicPr>
            <a:picLocks noChangeAspect="1"/>
          </p:cNvPicPr>
          <p:nvPr/>
        </p:nvPicPr>
        <p:blipFill>
          <a:blip r:embed="rId2"/>
          <a:srcRect l="22061" t="39205" r="33372" b="24085"/>
          <a:stretch>
            <a:fillRect/>
          </a:stretch>
        </p:blipFill>
        <p:spPr>
          <a:xfrm>
            <a:off x="195580" y="1205230"/>
            <a:ext cx="5433695" cy="4448810"/>
          </a:xfrm>
          <a:prstGeom prst="rect">
            <a:avLst/>
          </a:prstGeom>
        </p:spPr>
      </p:pic>
      <p:pic>
        <p:nvPicPr>
          <p:cNvPr id="108" name="Picture 108" descr="Screenshot (684)"/>
          <p:cNvPicPr>
            <a:picLocks noChangeAspect="1"/>
          </p:cNvPicPr>
          <p:nvPr/>
        </p:nvPicPr>
        <p:blipFill>
          <a:blip r:embed="rId3"/>
          <a:srcRect l="21756" t="37202" r="11691" b="16615"/>
          <a:stretch>
            <a:fillRect/>
          </a:stretch>
        </p:blipFill>
        <p:spPr>
          <a:xfrm>
            <a:off x="5975985" y="1204595"/>
            <a:ext cx="6039485" cy="444944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71755" y="-2540"/>
            <a:ext cx="12277725" cy="6866255"/>
          </a:xfr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436245" y="-2540"/>
            <a:ext cx="632269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400" b="1">
                <a:solidFill>
                  <a:schemeClr val="bg1"/>
                </a:solidFill>
              </a:rPr>
              <a:t>05</a:t>
            </a:r>
          </a:p>
          <a:p>
            <a:r>
              <a:rPr lang="en-IN" altLang="en-US" sz="4400" b="1">
                <a:solidFill>
                  <a:schemeClr val="bg1"/>
                </a:solidFill>
              </a:rPr>
              <a:t>Vizualization</a:t>
            </a:r>
          </a:p>
        </p:txBody>
      </p:sp>
      <p:pic>
        <p:nvPicPr>
          <p:cNvPr id="5" name="Content Placeholder 3" descr="Screenshot 2020-12-03 00.18.31"/>
          <p:cNvPicPr>
            <a:picLocks noChangeAspect="1"/>
          </p:cNvPicPr>
          <p:nvPr/>
        </p:nvPicPr>
        <p:blipFill>
          <a:blip r:embed="rId3"/>
          <a:srcRect l="23083" t="44477" r="23847" b="12841"/>
          <a:stretch>
            <a:fillRect/>
          </a:stretch>
        </p:blipFill>
        <p:spPr>
          <a:xfrm>
            <a:off x="6214745" y="1377315"/>
            <a:ext cx="5835015" cy="4768215"/>
          </a:xfrm>
          <a:prstGeom prst="rect">
            <a:avLst/>
          </a:prstGeom>
        </p:spPr>
      </p:pic>
      <p:pic>
        <p:nvPicPr>
          <p:cNvPr id="7" name="Content Placeholder 6" descr="Screenshot (700)"/>
          <p:cNvPicPr>
            <a:picLocks noGrp="1" noChangeAspect="1"/>
          </p:cNvPicPr>
          <p:nvPr>
            <p:ph idx="1"/>
          </p:nvPr>
        </p:nvPicPr>
        <p:blipFill>
          <a:blip r:embed="rId4"/>
          <a:srcRect l="17421" t="26625" r="27660" b="9213"/>
          <a:stretch>
            <a:fillRect/>
          </a:stretch>
        </p:blipFill>
        <p:spPr>
          <a:xfrm>
            <a:off x="436245" y="1442720"/>
            <a:ext cx="5569585" cy="470281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136900" y="588010"/>
            <a:ext cx="4898390" cy="1207144"/>
            <a:chOff x="3006462" y="707524"/>
            <a:chExt cx="3237233" cy="1207243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3024989" y="1269554"/>
              <a:ext cx="3218706" cy="6452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IN" altLang="en-US" sz="3600" b="1" dirty="0">
                  <a:solidFill>
                    <a:srgbClr val="252A85"/>
                  </a:solidFill>
                  <a:latin typeface="+mj-lt"/>
                  <a:cs typeface="굴림" pitchFamily="50" charset="-127"/>
                </a:rPr>
                <a:t>Time Series Forcasting</a:t>
              </a:r>
            </a:p>
          </p:txBody>
        </p:sp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3006462" y="707524"/>
              <a:ext cx="936104" cy="70681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4000" b="1" dirty="0" smtClean="0">
                  <a:solidFill>
                    <a:srgbClr val="252A85"/>
                  </a:solidFill>
                  <a:latin typeface="+mj-lt"/>
                  <a:ea typeface="Malgun Gothic" panose="020B0503020000020004" pitchFamily="50" charset="-127"/>
                  <a:cs typeface="굴림" pitchFamily="50" charset="-127"/>
                </a:rPr>
                <a:t>0</a:t>
              </a:r>
              <a:r>
                <a:rPr kumimoji="1" lang="en-IN" altLang="en-US" sz="4000" b="1" dirty="0" smtClean="0">
                  <a:solidFill>
                    <a:srgbClr val="252A85"/>
                  </a:solidFill>
                  <a:latin typeface="+mj-lt"/>
                  <a:ea typeface="Malgun Gothic" panose="020B0503020000020004" pitchFamily="50" charset="-127"/>
                  <a:cs typeface="굴림" pitchFamily="50" charset="-127"/>
                </a:rPr>
                <a:t>6</a:t>
              </a:r>
            </a:p>
          </p:txBody>
        </p:sp>
      </p:grpSp>
      <p:sp>
        <p:nvSpPr>
          <p:cNvPr id="3" name="Text Box 2"/>
          <p:cNvSpPr txBox="1"/>
          <p:nvPr/>
        </p:nvSpPr>
        <p:spPr>
          <a:xfrm>
            <a:off x="142240" y="1795145"/>
            <a:ext cx="11824335" cy="48926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altLang="en-US" sz="2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ARIMA Time Series Forcasting:  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 popular and widely used statistical method for time </a:t>
            </a:r>
          </a:p>
          <a:p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series forecasting is the </a:t>
            </a:r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ARIMA 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model</a:t>
            </a:r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 ARIMA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is an acronym that stands for</a:t>
            </a:r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</a:t>
            </a:r>
          </a:p>
          <a:p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AutoRegressive Integrated Moving Average. 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It is a class of model that captures a suite </a:t>
            </a:r>
          </a:p>
          <a:p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of different standard temporal structures in time series data</a:t>
            </a:r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</a:t>
            </a:r>
          </a:p>
          <a:p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AR: Autoregression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 A model that uses the dependent relationship between an observation and some number of lagged observations.</a:t>
            </a:r>
          </a:p>
          <a:p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I: Integrated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 The use of differencing of raw observations (e.g. subtracting an observation from an observation at the previous time step) in order to make the time series stationary.</a:t>
            </a:r>
          </a:p>
          <a:p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MA: Moving Average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. A model that uses the dependency between an observation and a residual error from a moving average model applied to lagged observations.</a:t>
            </a:r>
          </a:p>
          <a:p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SARIMA for Time Series Forecasting:  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An extension to</a:t>
            </a:r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ARIMA 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that supports the direct</a:t>
            </a:r>
          </a:p>
          <a:p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modeling of the</a:t>
            </a:r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seasonal component </a:t>
            </a:r>
            <a:r>
              <a:rPr lang="en-IN" altLang="en-US" sz="2400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of the series is called </a:t>
            </a:r>
            <a:r>
              <a:rPr lang="en-IN" altLang="en-US" sz="2400" b="1" i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SARIMA. </a:t>
            </a:r>
            <a:endParaRPr lang="en-IN" altLang="en-US" sz="2400" b="1" i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IN" altLang="en-US" sz="2400" b="1" i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309245" y="395605"/>
            <a:ext cx="7978775" cy="1005840"/>
          </a:xfrm>
        </p:spPr>
        <p:txBody>
          <a:bodyPr/>
          <a:lstStyle/>
          <a:p>
            <a:r>
              <a:rPr lang="en-IN" altLang="ko-KR" sz="4800" dirty="0"/>
              <a:t>07</a:t>
            </a:r>
            <a:br>
              <a:rPr lang="en-IN" altLang="ko-KR" sz="4800" dirty="0"/>
            </a:br>
            <a:r>
              <a:rPr lang="en-IN" altLang="ko-KR" sz="4800" dirty="0"/>
              <a:t>Classification</a:t>
            </a:r>
            <a:endParaRPr lang="en-IN" altLang="ko-KR" sz="4000" dirty="0"/>
          </a:p>
        </p:txBody>
      </p:sp>
      <p:sp>
        <p:nvSpPr>
          <p:cNvPr id="2" name="Text Box 1"/>
          <p:cNvSpPr txBox="1"/>
          <p:nvPr/>
        </p:nvSpPr>
        <p:spPr>
          <a:xfrm>
            <a:off x="6368415" y="267335"/>
            <a:ext cx="573405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r>
              <a:rPr kumimoji="1" lang="en-I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UI Gothic" panose="020B0600070205080204" charset="-128"/>
                <a:ea typeface="MS UI Gothic" panose="020B0600070205080204" charset="-128"/>
                <a:cs typeface="+mn-lt"/>
              </a:rPr>
              <a:t>Classification refers to a predictive modeling</a:t>
            </a:r>
          </a:p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None/>
            </a:pPr>
            <a:r>
              <a:rPr kumimoji="1" lang="en-I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S UI Gothic" panose="020B0600070205080204" charset="-128"/>
                <a:ea typeface="MS UI Gothic" panose="020B0600070205080204" charset="-128"/>
                <a:cs typeface="+mn-lt"/>
              </a:rPr>
              <a:t>problem where a class label is predicted for a given example of input data.</a:t>
            </a:r>
          </a:p>
          <a:p>
            <a:pPr marL="342900" marR="0" indent="-34290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1" lang="en-I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MS UI Gothic" panose="020B0600070205080204" charset="-128"/>
                <a:cs typeface="+mn-lt"/>
              </a:rPr>
              <a:t>In this project, we have used Rnadom Forest</a:t>
            </a:r>
          </a:p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en-I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MS UI Gothic" panose="020B0600070205080204" charset="-128"/>
                <a:cs typeface="+mn-lt"/>
              </a:rPr>
              <a:t>Classification algorithm which operate by</a:t>
            </a:r>
          </a:p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en-I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MS UI Gothic" panose="020B0600070205080204" charset="-128"/>
                <a:cs typeface="+mn-lt"/>
              </a:rPr>
              <a:t>constructing a multitude of decision trees at training</a:t>
            </a:r>
          </a:p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en-I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MS UI Gothic" panose="020B0600070205080204" charset="-128"/>
                <a:cs typeface="+mn-lt"/>
              </a:rPr>
              <a:t>time and outputting the class that is the mode of the</a:t>
            </a:r>
          </a:p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en-I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MS UI Gothic" panose="020B0600070205080204" charset="-128"/>
                <a:cs typeface="+mn-lt"/>
              </a:rPr>
              <a:t>classes or mean/average prediction of the individual</a:t>
            </a:r>
          </a:p>
          <a:p>
            <a:pPr marR="0" indent="0" defTabSz="9144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1" lang="en-IN" altLang="en-US" b="1" dirty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MS UI Gothic" panose="020B0600070205080204" charset="-128"/>
                <a:cs typeface="+mn-lt"/>
              </a:rPr>
              <a:t>trees and have got an accuracy of 58.38%.</a:t>
            </a:r>
            <a:endParaRPr kumimoji="1" lang="en-IN" altLang="en-US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UI Gothic" panose="020B0600070205080204" charset="-128"/>
              <a:ea typeface="MS UI Gothic" panose="020B0600070205080204" charset="-128"/>
              <a:cs typeface="+mn-lt"/>
            </a:endParaRPr>
          </a:p>
          <a:p>
            <a:endParaRPr kumimoji="1" lang="en-IN" altLang="en-US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S UI Gothic" panose="020B0600070205080204" charset="-128"/>
              <a:ea typeface="MS UI Gothic" panose="020B0600070205080204" charset="-128"/>
              <a:cs typeface="+mn-lt"/>
            </a:endParaRPr>
          </a:p>
        </p:txBody>
      </p:sp>
      <p:pic>
        <p:nvPicPr>
          <p:cNvPr id="3" name="Picture 2" descr="Screenshot 2020-12-03 01.52.40"/>
          <p:cNvPicPr>
            <a:picLocks noChangeAspect="1"/>
          </p:cNvPicPr>
          <p:nvPr/>
        </p:nvPicPr>
        <p:blipFill>
          <a:blip r:embed="rId3"/>
          <a:srcRect l="22241" t="31975" r="26124" b="15219"/>
          <a:stretch>
            <a:fillRect/>
          </a:stretch>
        </p:blipFill>
        <p:spPr>
          <a:xfrm>
            <a:off x="236220" y="2642235"/>
            <a:ext cx="5653405" cy="401256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309245" y="395605"/>
            <a:ext cx="3695065" cy="1005840"/>
          </a:xfrm>
        </p:spPr>
        <p:txBody>
          <a:bodyPr/>
          <a:lstStyle/>
          <a:p>
            <a:r>
              <a:rPr lang="en-IN" altLang="ko-KR" sz="4800" dirty="0"/>
              <a:t>08</a:t>
            </a:r>
            <a:br>
              <a:rPr lang="en-IN" altLang="ko-KR" sz="4800" dirty="0"/>
            </a:br>
            <a:r>
              <a:rPr lang="en-IN" altLang="ko-KR" sz="4800" dirty="0"/>
              <a:t>Clustering</a:t>
            </a:r>
            <a:endParaRPr lang="en-IN" altLang="ko-KR" sz="4000" dirty="0"/>
          </a:p>
        </p:txBody>
      </p:sp>
      <p:sp>
        <p:nvSpPr>
          <p:cNvPr id="6" name="Text Box 5"/>
          <p:cNvSpPr txBox="1"/>
          <p:nvPr/>
        </p:nvSpPr>
        <p:spPr>
          <a:xfrm>
            <a:off x="5172075" y="85725"/>
            <a:ext cx="701833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chemeClr val="bg1"/>
                </a:solidFill>
              </a:rPr>
              <a:t>C</a:t>
            </a:r>
            <a:r>
              <a:rPr lang="en-US" dirty="0" err="1">
                <a:solidFill>
                  <a:schemeClr val="bg1"/>
                </a:solidFill>
              </a:rPr>
              <a:t>lustering</a:t>
            </a:r>
            <a:r>
              <a:rPr lang="en-US" dirty="0">
                <a:solidFill>
                  <a:schemeClr val="bg1"/>
                </a:solidFill>
              </a:rPr>
              <a:t>, is an unsupervised machine learning task. It involves</a:t>
            </a:r>
          </a:p>
          <a:p>
            <a:r>
              <a:rPr lang="en-US" dirty="0">
                <a:solidFill>
                  <a:schemeClr val="bg1"/>
                </a:solidFill>
              </a:rPr>
              <a:t>automatically discovering natural grouping in data.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dirty="0">
                <a:solidFill>
                  <a:schemeClr val="bg1"/>
                </a:solidFill>
              </a:rPr>
              <a:t>In this model we have used K-Means Clustering technique </a:t>
            </a:r>
            <a:r>
              <a:rPr lang="en-IN" altLang="en-US" dirty="0" smtClean="0">
                <a:solidFill>
                  <a:schemeClr val="bg1"/>
                </a:solidFill>
              </a:rPr>
              <a:t>that aims </a:t>
            </a:r>
            <a:r>
              <a:rPr lang="en-IN" altLang="en-US" dirty="0">
                <a:solidFill>
                  <a:schemeClr val="bg1"/>
                </a:solidFill>
              </a:rPr>
              <a:t>to partition n observations into k clusters in which each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dirty="0">
                <a:solidFill>
                  <a:schemeClr val="bg1"/>
                </a:solidFill>
              </a:rPr>
              <a:t>observation belongs to the cluster with the nearest mean (cluster </a:t>
            </a:r>
            <a:r>
              <a:rPr lang="en-IN" altLang="en-US" dirty="0" err="1">
                <a:solidFill>
                  <a:schemeClr val="bg1"/>
                </a:solidFill>
              </a:rPr>
              <a:t>centers</a:t>
            </a:r>
            <a:r>
              <a:rPr lang="en-IN" altLang="en-US" dirty="0">
                <a:solidFill>
                  <a:schemeClr val="bg1"/>
                </a:solidFill>
              </a:rPr>
              <a:t> or cluster </a:t>
            </a:r>
            <a:r>
              <a:rPr lang="en-IN" altLang="en-US" dirty="0" err="1">
                <a:solidFill>
                  <a:schemeClr val="bg1"/>
                </a:solidFill>
              </a:rPr>
              <a:t>centroid</a:t>
            </a:r>
            <a:r>
              <a:rPr lang="en-IN" altLang="en-US" dirty="0">
                <a:solidFill>
                  <a:schemeClr val="bg1"/>
                </a:solidFill>
              </a:rPr>
              <a:t>), serving as a prototype of the cluster.</a:t>
            </a:r>
          </a:p>
          <a:p>
            <a:pPr indent="0">
              <a:buFont typeface="Arial" panose="020B0604020202020204" pitchFamily="34" charset="0"/>
              <a:buNone/>
            </a:pPr>
            <a:endParaRPr lang="en-IN" alt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dirty="0">
                <a:solidFill>
                  <a:schemeClr val="bg1"/>
                </a:solidFill>
              </a:rPr>
              <a:t>We have chosen Elbow method to determine number of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dirty="0">
                <a:solidFill>
                  <a:schemeClr val="bg1"/>
                </a:solidFill>
              </a:rPr>
              <a:t>clusters in the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altLang="en-US" dirty="0">
                <a:solidFill>
                  <a:schemeClr val="bg1"/>
                </a:solidFill>
              </a:rPr>
              <a:t>Also we have done </a:t>
            </a:r>
            <a:r>
              <a:rPr lang="en-IN" altLang="en-US" dirty="0" smtClean="0">
                <a:solidFill>
                  <a:schemeClr val="bg1"/>
                </a:solidFill>
              </a:rPr>
              <a:t>visualization </a:t>
            </a:r>
            <a:r>
              <a:rPr lang="en-IN" altLang="en-US" dirty="0">
                <a:solidFill>
                  <a:schemeClr val="bg1"/>
                </a:solidFill>
              </a:rPr>
              <a:t>of clustered data and </a:t>
            </a:r>
            <a:r>
              <a:rPr lang="en-IN" altLang="en-US" dirty="0" smtClean="0">
                <a:solidFill>
                  <a:schemeClr val="bg1"/>
                </a:solidFill>
              </a:rPr>
              <a:t>silhouette </a:t>
            </a:r>
            <a:r>
              <a:rPr lang="en-IN" altLang="en-US" dirty="0">
                <a:solidFill>
                  <a:schemeClr val="bg1"/>
                </a:solidFill>
              </a:rPr>
              <a:t>plot for various clusters and displayed Crime </a:t>
            </a:r>
            <a:r>
              <a:rPr lang="en-IN" altLang="en-US" dirty="0" smtClean="0">
                <a:solidFill>
                  <a:schemeClr val="bg1"/>
                </a:solidFill>
              </a:rPr>
              <a:t>neighbourhoods</a:t>
            </a:r>
            <a:endParaRPr lang="en-IN" altLang="en-US" dirty="0">
              <a:solidFill>
                <a:schemeClr val="bg1"/>
              </a:solidFill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IN" altLang="en-US" dirty="0">
                <a:solidFill>
                  <a:schemeClr val="bg1"/>
                </a:solidFill>
              </a:rPr>
              <a:t> by K-Means.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Screenshot 2020-12-03 09.38.13"/>
          <p:cNvPicPr>
            <a:picLocks noChangeAspect="1"/>
          </p:cNvPicPr>
          <p:nvPr/>
        </p:nvPicPr>
        <p:blipFill>
          <a:blip r:embed="rId3"/>
          <a:srcRect l="27767" t="62301" r="51547" b="11405"/>
          <a:stretch>
            <a:fillRect/>
          </a:stretch>
        </p:blipFill>
        <p:spPr>
          <a:xfrm>
            <a:off x="1715135" y="2215515"/>
            <a:ext cx="3182620" cy="2667635"/>
          </a:xfrm>
          <a:prstGeom prst="rect">
            <a:avLst/>
          </a:prstGeom>
        </p:spPr>
      </p:pic>
      <p:pic>
        <p:nvPicPr>
          <p:cNvPr id="9" name="Picture 8" descr="Screenshot 2020-12-03 09.42.29"/>
          <p:cNvPicPr>
            <a:picLocks noChangeAspect="1"/>
          </p:cNvPicPr>
          <p:nvPr/>
        </p:nvPicPr>
        <p:blipFill>
          <a:blip r:embed="rId4"/>
          <a:srcRect l="27298" t="52121" r="38340" b="7363"/>
          <a:stretch>
            <a:fillRect/>
          </a:stretch>
        </p:blipFill>
        <p:spPr>
          <a:xfrm>
            <a:off x="5172075" y="4133850"/>
            <a:ext cx="5634355" cy="266763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71755" y="-2540"/>
            <a:ext cx="12277725" cy="6866255"/>
          </a:xfr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</p:spPr>
        <p:txBody>
          <a:bodyPr/>
          <a:lstStyle/>
          <a:p>
            <a:endParaRPr lang="ko-KR" altLang="en-US" dirty="0"/>
          </a:p>
        </p:txBody>
      </p:sp>
      <p:pic>
        <p:nvPicPr>
          <p:cNvPr id="6" name="Content Placeholder 5" descr="Screenshot 2020-12-03 09.58.48"/>
          <p:cNvPicPr>
            <a:picLocks noGrp="1" noChangeAspect="1"/>
          </p:cNvPicPr>
          <p:nvPr>
            <p:ph idx="1"/>
          </p:nvPr>
        </p:nvPicPr>
        <p:blipFill>
          <a:blip r:embed="rId2"/>
          <a:srcRect l="23662" t="24615" r="25546" b="5005"/>
          <a:stretch>
            <a:fillRect/>
          </a:stretch>
        </p:blipFill>
        <p:spPr>
          <a:xfrm>
            <a:off x="88900" y="148590"/>
            <a:ext cx="6777990" cy="483870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88900" y="5231765"/>
            <a:ext cx="70288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chemeClr val="bg1"/>
                </a:solidFill>
              </a:rPr>
              <a:t>We have done the clustering twice one with PCA and one without PCA. Using PCA we have got good clusters and also running time</a:t>
            </a:r>
          </a:p>
          <a:p>
            <a:r>
              <a:rPr lang="en-IN" altLang="en-US" dirty="0">
                <a:solidFill>
                  <a:schemeClr val="bg1"/>
                </a:solidFill>
              </a:rPr>
              <a:t>was quite less.</a:t>
            </a:r>
          </a:p>
        </p:txBody>
      </p:sp>
      <p:pic>
        <p:nvPicPr>
          <p:cNvPr id="13" name="Picture 12" descr="Screenshot 2020-12-03 10.05.09"/>
          <p:cNvPicPr>
            <a:picLocks noChangeAspect="1"/>
          </p:cNvPicPr>
          <p:nvPr/>
        </p:nvPicPr>
        <p:blipFill>
          <a:blip r:embed="rId3"/>
          <a:srcRect l="14798" t="30438" r="30909" b="50314"/>
          <a:stretch>
            <a:fillRect/>
          </a:stretch>
        </p:blipFill>
        <p:spPr>
          <a:xfrm>
            <a:off x="7407275" y="300990"/>
            <a:ext cx="4512945" cy="161988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7407275" y="2045335"/>
            <a:ext cx="43351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dirty="0">
                <a:solidFill>
                  <a:schemeClr val="bg1"/>
                </a:solidFill>
              </a:rPr>
              <a:t>Silhouette score of  different clusters</a:t>
            </a:r>
          </a:p>
        </p:txBody>
      </p:sp>
      <p:pic>
        <p:nvPicPr>
          <p:cNvPr id="15" name="Content Placeholder 9" descr="Screenshot 2020-12-03 10.11.20"/>
          <p:cNvPicPr>
            <a:picLocks noChangeAspect="1"/>
          </p:cNvPicPr>
          <p:nvPr/>
        </p:nvPicPr>
        <p:blipFill>
          <a:blip r:embed="rId4"/>
          <a:srcRect l="25685" t="45615" r="41455" b="19262"/>
          <a:stretch>
            <a:fillRect/>
          </a:stretch>
        </p:blipFill>
        <p:spPr>
          <a:xfrm>
            <a:off x="7407275" y="2692400"/>
            <a:ext cx="4513580" cy="2935605"/>
          </a:xfrm>
          <a:prstGeom prst="rect">
            <a:avLst/>
          </a:prstGeom>
        </p:spPr>
      </p:pic>
      <p:sp>
        <p:nvSpPr>
          <p:cNvPr id="16" name="Text Box 15"/>
          <p:cNvSpPr txBox="1"/>
          <p:nvPr/>
        </p:nvSpPr>
        <p:spPr>
          <a:xfrm>
            <a:off x="6866890" y="5881370"/>
            <a:ext cx="53384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dirty="0" smtClean="0">
                <a:solidFill>
                  <a:schemeClr val="bg1"/>
                </a:solidFill>
              </a:rPr>
              <a:t>Neighbourhoods </a:t>
            </a:r>
            <a:r>
              <a:rPr lang="en-IN" altLang="en-US" dirty="0">
                <a:solidFill>
                  <a:schemeClr val="bg1"/>
                </a:solidFill>
              </a:rPr>
              <a:t>where crime </a:t>
            </a:r>
            <a:r>
              <a:rPr lang="en-IN" altLang="en-US" dirty="0" smtClean="0">
                <a:solidFill>
                  <a:schemeClr val="bg1"/>
                </a:solidFill>
              </a:rPr>
              <a:t>occurred </a:t>
            </a:r>
            <a:r>
              <a:rPr lang="en-IN" altLang="en-US" dirty="0">
                <a:solidFill>
                  <a:schemeClr val="bg1"/>
                </a:solidFill>
              </a:rPr>
              <a:t>the</a:t>
            </a:r>
          </a:p>
          <a:p>
            <a:pPr algn="ctr"/>
            <a:r>
              <a:rPr lang="en-IN" altLang="en-US" dirty="0">
                <a:solidFill>
                  <a:schemeClr val="bg1"/>
                </a:solidFill>
              </a:rPr>
              <a:t>most in consecutive three years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71755" y="-2540"/>
            <a:ext cx="12277725" cy="6866255"/>
          </a:xfr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</p:spPr>
        <p:txBody>
          <a:bodyPr/>
          <a:lstStyle/>
          <a:p>
            <a:endParaRPr lang="ko-KR" altLang="en-US" dirty="0"/>
          </a:p>
        </p:txBody>
      </p:sp>
      <p:sp>
        <p:nvSpPr>
          <p:cNvPr id="12" name="Text Box 11"/>
          <p:cNvSpPr txBox="1"/>
          <p:nvPr/>
        </p:nvSpPr>
        <p:spPr>
          <a:xfrm>
            <a:off x="328930" y="227965"/>
            <a:ext cx="78524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3200" b="1">
                <a:solidFill>
                  <a:schemeClr val="bg1"/>
                </a:solidFill>
                <a:latin typeface="+mj-lt"/>
                <a:cs typeface="+mj-lt"/>
              </a:rPr>
              <a:t>09</a:t>
            </a:r>
          </a:p>
          <a:p>
            <a:r>
              <a:rPr lang="en-IN" altLang="en-US" sz="3200" b="1">
                <a:solidFill>
                  <a:schemeClr val="bg1"/>
                </a:solidFill>
                <a:latin typeface="+mj-lt"/>
                <a:cs typeface="+mj-lt"/>
              </a:rPr>
              <a:t>CRIME MAPPING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431800" y="4202430"/>
            <a:ext cx="43351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dirty="0">
                <a:solidFill>
                  <a:schemeClr val="bg1"/>
                </a:solidFill>
              </a:rPr>
              <a:t>Result after </a:t>
            </a:r>
            <a:r>
              <a:rPr lang="en-IN" altLang="en-US" dirty="0" smtClean="0">
                <a:solidFill>
                  <a:schemeClr val="bg1"/>
                </a:solidFill>
              </a:rPr>
              <a:t>grouping Neighbourhood</a:t>
            </a:r>
            <a:endParaRPr lang="en-IN" altLang="en-US" dirty="0">
              <a:solidFill>
                <a:schemeClr val="bg1"/>
              </a:solidFill>
            </a:endParaRPr>
          </a:p>
          <a:p>
            <a:pPr algn="ctr"/>
            <a:r>
              <a:rPr lang="en-IN" altLang="en-US" dirty="0">
                <a:solidFill>
                  <a:schemeClr val="bg1"/>
                </a:solidFill>
              </a:rPr>
              <a:t>with MCI</a:t>
            </a:r>
          </a:p>
        </p:txBody>
      </p:sp>
      <p:pic>
        <p:nvPicPr>
          <p:cNvPr id="8" name="Content Placeholder 7" descr="Screenshot 2020-12-03 10.11.42"/>
          <p:cNvPicPr>
            <a:picLocks noGrp="1" noChangeAspect="1"/>
          </p:cNvPicPr>
          <p:nvPr>
            <p:ph idx="1"/>
          </p:nvPr>
        </p:nvPicPr>
        <p:blipFill>
          <a:blip r:embed="rId2"/>
          <a:srcRect l="25554" t="29345" r="39255" b="40274"/>
          <a:stretch>
            <a:fillRect/>
          </a:stretch>
        </p:blipFill>
        <p:spPr>
          <a:xfrm>
            <a:off x="328930" y="1216025"/>
            <a:ext cx="5390515" cy="2593975"/>
          </a:xfrm>
          <a:prstGeom prst="rect">
            <a:avLst/>
          </a:prstGeom>
        </p:spPr>
      </p:pic>
      <p:pic>
        <p:nvPicPr>
          <p:cNvPr id="9" name="Content Placeholder 7" descr="Screenshot 2020-12-03 10.11.33"/>
          <p:cNvPicPr>
            <a:picLocks noChangeAspect="1"/>
          </p:cNvPicPr>
          <p:nvPr/>
        </p:nvPicPr>
        <p:blipFill>
          <a:blip r:embed="rId3"/>
          <a:srcRect l="26482" t="32613" r="34535" b="13585"/>
          <a:stretch>
            <a:fillRect/>
          </a:stretch>
        </p:blipFill>
        <p:spPr>
          <a:xfrm>
            <a:off x="5974715" y="2821305"/>
            <a:ext cx="5986145" cy="3240405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6459855" y="2169795"/>
            <a:ext cx="50158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dirty="0">
                <a:solidFill>
                  <a:schemeClr val="bg1"/>
                </a:solidFill>
              </a:rPr>
              <a:t>Places of high-density of crime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ko-KR" dirty="0"/>
              <a:t>Conclusion and Future Work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00965" y="1452880"/>
            <a:ext cx="12042775" cy="501586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en-US" b="1" i="1" dirty="0"/>
              <a:t>The spatial analysis of crime in the city of Toronto demonstrates interesting relationships between police-reported </a:t>
            </a:r>
          </a:p>
          <a:p>
            <a:r>
              <a:rPr lang="en-US" b="1" i="1" dirty="0"/>
              <a:t>crime and </a:t>
            </a:r>
            <a:r>
              <a:rPr lang="en-US" b="1" i="1" dirty="0" err="1"/>
              <a:t>neighbourhoods</a:t>
            </a:r>
            <a:r>
              <a:rPr lang="en-US" b="1" i="1" dirty="0"/>
              <a:t> associated with them. Outcomes of this analysis have shown how certain </a:t>
            </a:r>
            <a:r>
              <a:rPr lang="en-US" b="1" i="1" dirty="0" err="1" smtClean="0"/>
              <a:t>neighbourhood</a:t>
            </a:r>
            <a:r>
              <a:rPr lang="en-US" b="1" i="1" dirty="0" smtClean="0"/>
              <a:t>    characteristics </a:t>
            </a:r>
            <a:r>
              <a:rPr lang="en-US" b="1" i="1" dirty="0"/>
              <a:t>are related to a higher degree of crime rates.</a:t>
            </a:r>
          </a:p>
          <a:p>
            <a:endParaRPr lang="en-US" b="1" i="1" dirty="0"/>
          </a:p>
          <a:p>
            <a:r>
              <a:rPr lang="en-US" b="1" i="1" dirty="0"/>
              <a:t>This study will aid in identifying crime and predicting dangerous hotspots at a certain time and place and also in</a:t>
            </a:r>
          </a:p>
          <a:p>
            <a:r>
              <a:rPr lang="en-US" b="1" i="1" dirty="0"/>
              <a:t>pro</a:t>
            </a:r>
            <a:r>
              <a:rPr lang="en-IN" altLang="en-US" b="1" i="1" dirty="0"/>
              <a:t>p</a:t>
            </a:r>
            <a:r>
              <a:rPr lang="en-US" b="1" i="1" dirty="0" err="1"/>
              <a:t>er</a:t>
            </a:r>
            <a:r>
              <a:rPr lang="en-US" b="1" i="1" dirty="0"/>
              <a:t> planning and safety measures to stop the antisocial activities from happening in the community.</a:t>
            </a:r>
          </a:p>
          <a:p>
            <a:endParaRPr lang="en-US" b="1" i="1" dirty="0"/>
          </a:p>
          <a:p>
            <a:r>
              <a:rPr lang="en-IN" altLang="en-US" b="1" i="1" dirty="0"/>
              <a:t>In the future, we can find people or groups who have committed the crime and find reasons behind these activities.</a:t>
            </a:r>
          </a:p>
          <a:p>
            <a:r>
              <a:rPr lang="en-IN" altLang="en-US" b="1" i="1" dirty="0"/>
              <a:t>Also, we would like to predict future crime spots which will include more number of places/ cities. Thus providing a </a:t>
            </a:r>
            <a:r>
              <a:rPr lang="en-IN" altLang="en-US" b="1" i="1" dirty="0" smtClean="0"/>
              <a:t>      broader aspect </a:t>
            </a:r>
            <a:r>
              <a:rPr lang="en-IN" altLang="en-US" b="1" i="1" dirty="0"/>
              <a:t>of criminal activities.</a:t>
            </a:r>
          </a:p>
          <a:p>
            <a:endParaRPr lang="en-IN" altLang="en-US" b="1" i="1" dirty="0"/>
          </a:p>
          <a:p>
            <a:r>
              <a:rPr lang="en-IN" altLang="en-US" b="1" i="1" dirty="0" smtClean="0"/>
              <a:t>While  there is  little  </a:t>
            </a:r>
            <a:r>
              <a:rPr lang="en-IN" altLang="en-US" b="1" i="1" dirty="0"/>
              <a:t>reason to believe that the crime rate </a:t>
            </a:r>
            <a:r>
              <a:rPr lang="en-IN" altLang="en-US" b="1" i="1" dirty="0" smtClean="0"/>
              <a:t>will  increase  </a:t>
            </a:r>
            <a:r>
              <a:rPr lang="en-IN" altLang="en-US" b="1" i="1" dirty="0"/>
              <a:t>dramatically </a:t>
            </a:r>
            <a:r>
              <a:rPr lang="en-IN" altLang="en-US" b="1" i="1" dirty="0" smtClean="0"/>
              <a:t> in </a:t>
            </a:r>
            <a:r>
              <a:rPr lang="en-IN" altLang="en-US" b="1" i="1" dirty="0"/>
              <a:t>the first </a:t>
            </a:r>
            <a:r>
              <a:rPr lang="en-IN" altLang="en-US" b="1" i="1" dirty="0" smtClean="0"/>
              <a:t> decade  </a:t>
            </a:r>
            <a:r>
              <a:rPr lang="en-IN" altLang="en-US" b="1" i="1" dirty="0"/>
              <a:t>of </a:t>
            </a:r>
            <a:r>
              <a:rPr lang="en-IN" altLang="en-US" b="1" i="1" dirty="0" smtClean="0"/>
              <a:t> the  21</a:t>
            </a:r>
            <a:r>
              <a:rPr lang="en-IN" altLang="en-US" b="1" i="1" baseline="30000" dirty="0" smtClean="0"/>
              <a:t>st</a:t>
            </a:r>
            <a:r>
              <a:rPr lang="en-IN" altLang="en-US" b="1" i="1" dirty="0" smtClean="0"/>
              <a:t>  Century</a:t>
            </a:r>
            <a:r>
              <a:rPr lang="en-IN" altLang="en-US" b="1" i="1" dirty="0"/>
              <a:t>, given </a:t>
            </a:r>
            <a:r>
              <a:rPr lang="en-IN" altLang="en-US" b="1" i="1" dirty="0" smtClean="0"/>
              <a:t> the  anticipated  increases  in  </a:t>
            </a:r>
            <a:r>
              <a:rPr lang="en-IN" altLang="en-US" b="1" i="1" dirty="0"/>
              <a:t>the globalization</a:t>
            </a:r>
            <a:r>
              <a:rPr lang="en-IN" altLang="en-US" b="1" i="1" dirty="0" smtClean="0"/>
              <a:t>,  sophistication  and  organization </a:t>
            </a:r>
            <a:r>
              <a:rPr lang="en-IN" altLang="en-US" b="1" i="1" dirty="0"/>
              <a:t>of crime, </a:t>
            </a:r>
            <a:r>
              <a:rPr lang="en-IN" altLang="en-US" b="1" i="1" dirty="0" smtClean="0"/>
              <a:t>one  </a:t>
            </a:r>
            <a:r>
              <a:rPr lang="en-IN" altLang="en-US" b="1" i="1" dirty="0"/>
              <a:t>may        conclude that </a:t>
            </a:r>
            <a:r>
              <a:rPr lang="en-IN" altLang="en-US" b="1" i="1" dirty="0" smtClean="0"/>
              <a:t> the  </a:t>
            </a:r>
            <a:r>
              <a:rPr lang="en-IN" altLang="en-US" b="1" i="1" dirty="0"/>
              <a:t>impact of crime on Western </a:t>
            </a:r>
            <a:r>
              <a:rPr lang="en-IN" altLang="en-US" b="1" i="1" dirty="0" smtClean="0"/>
              <a:t> societies </a:t>
            </a:r>
            <a:r>
              <a:rPr lang="en-IN" altLang="en-US" b="1" i="1" dirty="0"/>
              <a:t>may be more severe </a:t>
            </a:r>
            <a:r>
              <a:rPr lang="en-IN" altLang="en-US" b="1" i="1" dirty="0" smtClean="0"/>
              <a:t> than </a:t>
            </a:r>
            <a:r>
              <a:rPr lang="en-IN" altLang="en-US" b="1" i="1" dirty="0"/>
              <a:t>the </a:t>
            </a:r>
            <a:r>
              <a:rPr lang="en-IN" altLang="en-US" b="1" i="1" dirty="0" smtClean="0"/>
              <a:t>one  </a:t>
            </a:r>
            <a:r>
              <a:rPr lang="en-IN" altLang="en-US" b="1" i="1" dirty="0"/>
              <a:t>witnessed under a similar  rate of </a:t>
            </a:r>
            <a:r>
              <a:rPr lang="en-IN" altLang="en-US" b="1" i="1" dirty="0" smtClean="0"/>
              <a:t> crime </a:t>
            </a:r>
            <a:r>
              <a:rPr lang="en-IN" altLang="en-US" b="1" i="1" dirty="0"/>
              <a:t>in </a:t>
            </a:r>
            <a:r>
              <a:rPr lang="en-IN" altLang="en-US" b="1" i="1" dirty="0" smtClean="0"/>
              <a:t>the  </a:t>
            </a:r>
            <a:r>
              <a:rPr lang="en-IN" altLang="en-US" b="1" i="1" dirty="0"/>
              <a:t>past</a:t>
            </a:r>
            <a:r>
              <a:rPr lang="en-IN" altLang="en-US" b="1" i="1" dirty="0" smtClean="0"/>
              <a:t>. The </a:t>
            </a:r>
            <a:r>
              <a:rPr lang="en-IN" altLang="en-US" b="1" i="1" dirty="0"/>
              <a:t>goal </a:t>
            </a:r>
            <a:r>
              <a:rPr lang="en-IN" altLang="en-US" b="1" i="1" dirty="0" smtClean="0"/>
              <a:t> of </a:t>
            </a:r>
            <a:r>
              <a:rPr lang="en-IN" altLang="en-US" b="1" i="1" dirty="0"/>
              <a:t>any </a:t>
            </a:r>
            <a:r>
              <a:rPr lang="en-IN" altLang="en-US" b="1" i="1" dirty="0" smtClean="0"/>
              <a:t> society  shouldn’t  be to  just  catch  criminals  but </a:t>
            </a:r>
            <a:r>
              <a:rPr lang="en-IN" altLang="en-US" b="1" i="1" dirty="0"/>
              <a:t>to </a:t>
            </a:r>
            <a:r>
              <a:rPr lang="en-IN" altLang="en-US" b="1" i="1" dirty="0" smtClean="0"/>
              <a:t>prevent  crimes  from  happening </a:t>
            </a:r>
            <a:r>
              <a:rPr lang="en-IN" altLang="en-US" b="1" i="1" dirty="0"/>
              <a:t>in the first place.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781783" y="2563282"/>
            <a:ext cx="5821584" cy="1368152"/>
          </a:xfrm>
        </p:spPr>
        <p:txBody>
          <a:bodyPr/>
          <a:lstStyle/>
          <a:p>
            <a:r>
              <a:rPr lang="en-US" altLang="ko-KR" dirty="0" smtClean="0"/>
              <a:t>THANK YOU</a:t>
            </a:r>
            <a:endParaRPr lang="ko-KR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Calibri"/>
        <a:ea typeface="맑은 고딕"/>
        <a:cs typeface=""/>
      </a:majorFont>
      <a:minorFont>
        <a:latin typeface="Calibri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1221</Words>
  <Application>WPS Presentation</Application>
  <PresentationFormat>Custom</PresentationFormat>
  <Paragraphs>142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Malgun Gothic</vt:lpstr>
      <vt:lpstr>굴림체</vt:lpstr>
      <vt:lpstr>굴림</vt:lpstr>
      <vt:lpstr>Calibri Light</vt:lpstr>
      <vt:lpstr>MS UI Gothic</vt:lpstr>
      <vt:lpstr>Noto Sans</vt:lpstr>
      <vt:lpstr>Office 테마</vt:lpstr>
      <vt:lpstr> Crime Pattern  Detection, Analysis &amp; Prediction </vt:lpstr>
      <vt:lpstr>Slide 2</vt:lpstr>
      <vt:lpstr>01 Why crimes should be predicted? (Introduction)</vt:lpstr>
      <vt:lpstr>Slide 4</vt:lpstr>
      <vt:lpstr>03 Use of Dataset</vt:lpstr>
      <vt:lpstr>04 Data Pre-Processing</vt:lpstr>
      <vt:lpstr>Slide 7</vt:lpstr>
      <vt:lpstr>Slide 8</vt:lpstr>
      <vt:lpstr>Slide 9</vt:lpstr>
      <vt:lpstr>07 Classification</vt:lpstr>
      <vt:lpstr>08 Clustering</vt:lpstr>
      <vt:lpstr>Slide 12</vt:lpstr>
      <vt:lpstr>Slide 13</vt:lpstr>
      <vt:lpstr>Conclusion and Future Work</vt:lpstr>
      <vt:lpstr>THANK YOU</vt:lpstr>
    </vt:vector>
  </TitlesOfParts>
  <Manager>Slide Members</Manager>
  <Company>YESFORM Co.,Ltd.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ANALYSIS AND  PREDICTION</dc:title>
  <dc:subject>Powerpoint Templates , Diagram, Chart, Google slides, Keynote</dc:subject>
  <dc:creator>Slide Members by HS.SEO</dc:creator>
  <cp:keywords>SlideMembers, ppt, PPT Templates, Presentation, Diagram, Chart, Yesform, Google slides, Keynote, Free Slides</cp:keywords>
  <dc:description>The copyright of this document is at Slide Members. Unauthorized copying may result in legal sanctions.</dc:description>
  <cp:lastModifiedBy>srinivas</cp:lastModifiedBy>
  <cp:revision>22</cp:revision>
  <dcterms:created xsi:type="dcterms:W3CDTF">2020-12-02T15:52:00Z</dcterms:created>
  <dcterms:modified xsi:type="dcterms:W3CDTF">2026-01-25T10:12:00Z</dcterms:modified>
  <cp:category>www.slidemembers.com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1033-11.2.0.9747</vt:lpwstr>
  </property>
</Properties>
</file>